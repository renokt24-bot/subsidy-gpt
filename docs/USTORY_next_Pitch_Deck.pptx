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USTORY nextの深川です。本日は『日本のキャリアインフラを作る』という私たちの構想をお話しします。私たちは才能が学歴や履歴書に埋もれない社会を目指し、専門学校を起点に学校・学生・企業をつなぐ基盤を作っています。今回はシード7,000万円の調達についてご相談させ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全体像です。事業は専門学校を起点にしたキャリアインフラ。市場はSAMで約2,851億円、年20〜30%成長。競争優位は高校市場で実証済みの『学校営業モデル』というDistribution。プロダクトは完成済みで、5校・10社と2026年7月に始動します。一言で言えば、専門スキルを持つ55万人の才能を、履歴書ではなくポートフォリオで評価される世界を作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投資のポイントは6つ。成長市場、模倣困難なDistribution、強いネットワーク効果、実証済みの初期実績、高い資本効率、そして実行力あるチームです。特に強調したいのは、私たちの優位がAIではなく『学校への流通網』である点と、LTV/CAC 6.6倍という資本効率です。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なぜ今か。3つの追い風が重なっています。新卒採用単価は1年で45万から56.8万へと高騰。HR Techクラウド市場はCAGR31.8%で3,200億円規模へ。そして2,676校ある専門学校はDXがほぼ手つかずで、スキル人材の流通網が存在しません。コストの問題、技術の追い風、そして空白市場。今こそ参入の好機です。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課題は、才能が履歴書に埋もれていることです。学生はスキルや作品があっても履歴書でしか評価されない。企業は専門スキル人材に出会えず採用単価だけが上がる。学校は就職支援が紙とExcelのアナログのまま。三者が断絶し、誰もこの溝を埋められ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サービスはこの三者の一辺ずつしか担えていません。求人媒体やスカウトは学生と企業をつなぐが学校とは連携しない。学校管理SaaSは校務を効率化するが採用と接続しない。ポートフォリオは見せる場止まり。結果、市場は断片化し、三者を同時につなぐキャリアインフラの空白が残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私たちはこの三者を1つにつなぎます。学校を起点に、学生はスキルとポートフォリオを公開し、企業は検索・AI・スカウトから採用管理まで一気通貫で行える。学校は求人・説明会・学生管理をクラウド化。三者の体験が1つの基盤の上で循環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ダクトは3つの体験で構成されます。学生向けは作品・動画・スキルを載せるポートフォリオ。企業向けはスキル検索・AIマッチング・スカウトから採用管理まで。学校向けは求人・説明会・学生管理のクラウド。それぞれ独立した価値を持ちながら、1つのデータ基盤でつなが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直に申し上げると、私たちの競争優位はAIではありません。『学校営業モデル』というDistributionです。プロダクトは模倣されますが、学校との信頼関係と運用網は模倣できない。私たちは既に高校市場で学校営業・導入・CS・運用のモデルを構築・実証済みで、それをそのまま2,676校の専門学校市場へ展開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市場規模です。最終的に挑む人材ビジネス市場全体はTAM10.2兆円。直接売り込むSAMは新卒採用支援とHR Techクラウドで2,851億円、年20〜30%成長。まず狙うSOMは、専門卒採用に動く約1,400億円の10%、5年で140億円。2,676校・55万人・採用単価56.8万円という確かな数字に基づいています。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収益は4段階で積み上げます。まず企業SaaSで安定したMRRの土台を作り、次にスカウトの従量課金、そして採用課金の成果報酬で高単価レイヤーを上積み。最後にAIで単価と継続率をさらに高める。学校チャネルで企業を低CACで獲得し、ARPAを段階的に拡張する積み上げ型のモデ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TMの肝は、学校を入口に企業を面で取ることです。学校1校の導入が数百人の学生と数十社の企業を連れてくる。学校チャネルは低CAC・高定着で、毎年新入生が自動的に流入します。18ヶ月で50校、無料企業3,000社、有料企業180社を目指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は強いネットワーク効果を持つ事業です。学校が増えれば学生と作品が増え、企業が集まり、採用実績が貯まり、また学校が増える。さらに作品・スキル・採用実績のデータが蓄積し、AIマッチングの精度が上がる。増えるほど強くなり、後発が崩せない堀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地です。プロダクトとデモは完成済み。2026年7月の正式リリースに向け、専門学校5校・導入可能企業10社という面が既に揃っています。高校市場で学校営業を実証し、開発を終え、いよいよローンチ。18ヶ月で50校・180社まで一気に拡大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ロードマップです。正式リリースから企業SaaS、スカウト、採用課金、AI機能と段階的に展開。18ヶ月後には専門学校50校、無料企業3,000社、有料企業180社、学生数万名というKPIを達成し、シリーズAにつなげ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財務計画です。3年でARRは0.65億→2.6億→7.2億円へ。学校チャネルでCACを12万円に抑え、LTVは79万円、LTV/CAC6.6倍、Payback5ヶ月、粗利80%超。今回の調達はEquity4,000万・Debt3,000万の計7,000万円で、月次バーン約390万円、18ヶ月のRunwayを確保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チームです。私たちは競争優位の源泉である学校営業モデルを、実際に高校市場で構築・実証してきた当事者です。設計者の深川、事業を統括するCEO渡部、プロダクトをリードするエンジニア片倉。プロダクト・営業・開発の三位一体で実行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ビジョンです。私たちは専門学校から始め、全教育機関、そして日本のキャリアインフラへと広げていきます。才能はスキルで測られるべきで、履歴書で測られるべきではない。この実現のため、シード7,000万円の調達をお願いします。ぜひご一緒させ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15.png"/><Relationship Id="rId5" Type="http://schemas.openxmlformats.org/officeDocument/2006/relationships/image" Target="../media/image30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9.png"/><Relationship Id="rId6" Type="http://schemas.openxmlformats.org/officeDocument/2006/relationships/image" Target="../media/image33.png"/><Relationship Id="rId7" Type="http://schemas.openxmlformats.org/officeDocument/2006/relationships/image" Target="../media/image30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15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11.png"/><Relationship Id="rId1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9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3.png"/><Relationship Id="rId4" Type="http://schemas.openxmlformats.org/officeDocument/2006/relationships/image" Target="../media/image9.png"/><Relationship Id="rId5" Type="http://schemas.openxmlformats.org/officeDocument/2006/relationships/image" Target="../media/image35.png"/><Relationship Id="rId6" Type="http://schemas.openxmlformats.org/officeDocument/2006/relationships/image" Target="../media/image44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45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46.png"/><Relationship Id="rId7" Type="http://schemas.openxmlformats.org/officeDocument/2006/relationships/image" Target="../media/image6.png"/><Relationship Id="rId8" Type="http://schemas.openxmlformats.org/officeDocument/2006/relationships/image" Target="../media/image8.png"/><Relationship Id="rId9" Type="http://schemas.openxmlformats.org/officeDocument/2006/relationships/image" Target="../media/image5.png"/><Relationship Id="rId1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7.png"/><Relationship Id="rId7" Type="http://schemas.openxmlformats.org/officeDocument/2006/relationships/image" Target="../media/image32.png"/><Relationship Id="rId8" Type="http://schemas.openxmlformats.org/officeDocument/2006/relationships/image" Target="../media/image9.png"/><Relationship Id="rId9" Type="http://schemas.openxmlformats.org/officeDocument/2006/relationships/image" Target="../media/image35.png"/><Relationship Id="rId10" Type="http://schemas.openxmlformats.org/officeDocument/2006/relationships/image" Target="../media/image15.png"/><Relationship Id="rId11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8.png"/><Relationship Id="rId4" Type="http://schemas.openxmlformats.org/officeDocument/2006/relationships/image" Target="../media/image15.png"/><Relationship Id="rId5" Type="http://schemas.openxmlformats.org/officeDocument/2006/relationships/image" Target="../media/image30.png"/><Relationship Id="rId6" Type="http://schemas.openxmlformats.org/officeDocument/2006/relationships/image" Target="../media/image49.png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15.png"/><Relationship Id="rId4" Type="http://schemas.openxmlformats.org/officeDocument/2006/relationships/image" Target="../media/image30.png"/><Relationship Id="rId5" Type="http://schemas.openxmlformats.org/officeDocument/2006/relationships/image" Target="../media/image46.png"/><Relationship Id="rId6" Type="http://schemas.openxmlformats.org/officeDocument/2006/relationships/image" Target="../media/image29.png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3000" y="0"/>
            <a:ext cx="4699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493000" y="0"/>
            <a:ext cx="0" cy="685800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9810750" y="2095500"/>
            <a:ext cx="0" cy="1333500"/>
          </a:xfrm>
          <a:prstGeom prst="line">
            <a:avLst/>
          </a:prstGeom>
          <a:ln w="27940" cap="rnd">
            <a:solidFill>
              <a:srgbClr val="DBE6F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8572500" y="3429000"/>
            <a:ext cx="1238250" cy="952500"/>
          </a:xfrm>
          <a:prstGeom prst="line">
            <a:avLst/>
          </a:prstGeom>
          <a:ln w="27940" cap="rnd">
            <a:solidFill>
              <a:srgbClr val="DBE6F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10750" y="3429000"/>
            <a:ext cx="1238250" cy="952500"/>
          </a:xfrm>
          <a:prstGeom prst="line">
            <a:avLst/>
          </a:prstGeom>
          <a:ln w="27940" cap="rnd">
            <a:solidFill>
              <a:srgbClr val="DBE6F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480550" y="1765300"/>
            <a:ext cx="660400" cy="660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8" name="Picture 7" descr="school_2563EB_512_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700" y="1917700"/>
            <a:ext cx="292100" cy="292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80550" y="2286000"/>
            <a:ext cx="6604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学校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2300" y="4051300"/>
            <a:ext cx="660400" cy="660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1" name="Picture 10" descr="graduation-cap_2563EB_512_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450" y="4203700"/>
            <a:ext cx="292100" cy="292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42300" y="4572000"/>
            <a:ext cx="6604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学生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18800" y="4051300"/>
            <a:ext cx="660400" cy="660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4" name="Picture 13" descr="building-2_2563EB_512_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2950" y="4203700"/>
            <a:ext cx="292100" cy="292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718800" y="4572000"/>
            <a:ext cx="6604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企業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42450" y="3060700"/>
            <a:ext cx="736600" cy="73660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>
            <a:noFill/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2450" y="3060700"/>
            <a:ext cx="736600" cy="736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5200" b="1">
                <a:solidFill>
                  <a:srgbClr val="FFFFFF"/>
                </a:solidFill>
                <a:latin typeface="Inter"/>
                <a:ea typeface="Noto Sans JP"/>
                <a:cs typeface="Inter"/>
              </a:rPr>
              <a:t>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8200" y="2286000"/>
            <a:ext cx="190500" cy="19050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7600" y="2286000"/>
            <a:ext cx="4445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7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743200"/>
            <a:ext cx="6350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 spc="30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BUILD JAPAN'S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2959100"/>
            <a:ext cx="6604000" cy="177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62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Career</a:t>
            </a:r>
          </a:p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62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Infrastructure.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4711700"/>
            <a:ext cx="66040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2200" b="0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才能が、学歴や履歴書に埋もれない社会をつくる。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8200" y="5118100"/>
            <a:ext cx="609600" cy="0"/>
          </a:xfrm>
          <a:prstGeom prst="line">
            <a:avLst/>
          </a:prstGeom>
          <a:ln w="31750" cap="rnd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8200" y="5257800"/>
            <a:ext cx="6604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5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専門学校を起点に、学校・学生・企業をつなぐキャリアインフラ。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62230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Seed Round  —  ¥70,000,000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49800" y="622300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13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Pitch Deck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603250"/>
            <a:ext cx="165100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9500" y="546100"/>
            <a:ext cx="102743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 spc="24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74700"/>
            <a:ext cx="10515600" cy="361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専門学校発、日本のキャリアインフラ。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35890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学校・学生・企業をつなぎ、スキルで採用が決まる市場をつくる。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2286000"/>
            <a:ext cx="2505075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6000" y="2476500"/>
            <a:ext cx="330200" cy="3302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8" name="Picture 7" descr="layers_2563EB_512_1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248" y="2555748"/>
            <a:ext cx="171704" cy="1717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6000" y="2921000"/>
            <a:ext cx="2149475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1" spc="15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事業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98800"/>
            <a:ext cx="2149475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1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キャリアインフラ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16000" y="3556000"/>
            <a:ext cx="2149475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16000" y="3683000"/>
            <a:ext cx="2149475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3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専門学校を起点に学校・学生・企業を接続するSaaS＋マッチング基盤。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8375" y="2286000"/>
            <a:ext cx="2505075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6175" y="2476500"/>
            <a:ext cx="330200" cy="3302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5" name="Picture 14" descr="trending-up_2563EB_512_1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423" y="2555748"/>
            <a:ext cx="171704" cy="1717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86175" y="2921000"/>
            <a:ext cx="2149475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1" spc="15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市場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6175" y="3098800"/>
            <a:ext cx="2149475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1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SAM ¥2,851億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6175" y="3556000"/>
            <a:ext cx="2149475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86175" y="3683000"/>
            <a:ext cx="2149475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3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新卒採用支援＋HR Techクラウド。年20〜30%成長の追い風。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8550" y="2286000"/>
            <a:ext cx="2505075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6350" y="2476500"/>
            <a:ext cx="330200" cy="3302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route_2563EB_512_1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598" y="2555748"/>
            <a:ext cx="171704" cy="1717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56350" y="2921000"/>
            <a:ext cx="2149475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1" spc="15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優位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6350" y="3098800"/>
            <a:ext cx="2149475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1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学校営業モデル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56350" y="3556000"/>
            <a:ext cx="2149475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56350" y="3683000"/>
            <a:ext cx="2149475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3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AIではなくDistribution。高校市場で実証済みの導入運用網。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48725" y="2286000"/>
            <a:ext cx="2505075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26525" y="2476500"/>
            <a:ext cx="330200" cy="3302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9" name="Picture 28" descr="rocket_2563EB_512_1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73" y="2555748"/>
            <a:ext cx="171704" cy="1717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026525" y="2921000"/>
            <a:ext cx="2149475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1" spc="15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現在地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26525" y="3098800"/>
            <a:ext cx="2149475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1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MVP完成・7月始動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026525" y="3556000"/>
            <a:ext cx="2149475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026525" y="3683000"/>
            <a:ext cx="2149475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3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5校／企業10社が始動。2026年7月に正式リリース。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8200" y="4775200"/>
            <a:ext cx="10515600" cy="49530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4100" y="4775200"/>
            <a:ext cx="8102600" cy="4953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Inter"/>
                <a:ea typeface="Noto Sans JP"/>
                <a:cs typeface="Inter"/>
              </a:rPr>
              <a:t>“ 専門スキルを持つ55万人の才能が、履歴書ではなくポートフォリオで評価される。”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48800" y="4908550"/>
            <a:ext cx="17272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48800" y="4902200"/>
            <a:ext cx="1727200" cy="228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Inter"/>
                <a:ea typeface="Noto Sans JP"/>
                <a:cs typeface="Inter"/>
              </a:rPr>
              <a:t>Skill  ＞  Resume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6470650"/>
            <a:ext cx="2540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48800" y="6470650"/>
            <a:ext cx="1905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603250"/>
            <a:ext cx="165100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9500" y="546100"/>
            <a:ext cx="102743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 spc="24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INVESTMENT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74700"/>
            <a:ext cx="10515600" cy="361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なぜ、いま投資すべきか。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35890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巨大市場 × 独自Distribution × ネットワーク効果 × 資本効率。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2222500"/>
            <a:ext cx="3395133" cy="1460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8200" y="2222500"/>
            <a:ext cx="31750" cy="146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3300" y="2387600"/>
            <a:ext cx="292100" cy="2921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9" name="Picture 8" descr="trending-up_2563EB_512_1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04" y="2457704"/>
            <a:ext cx="151892" cy="1518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84300" y="2400300"/>
            <a:ext cx="2696633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巨大かつ成長市場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4300" y="2540000"/>
            <a:ext cx="2696633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2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SAM ¥2,851億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300" y="2971800"/>
            <a:ext cx="3064933" cy="63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3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新卒採用支援とHR Techクラウドが年20〜30%で拡大。採用単価も高騰。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433" y="2222500"/>
            <a:ext cx="3395133" cy="1460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8433" y="2222500"/>
            <a:ext cx="31750" cy="146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63533" y="2387600"/>
            <a:ext cx="292100" cy="2921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6" name="Picture 15" descr="route_2563EB_512_1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637" y="2457704"/>
            <a:ext cx="151892" cy="1518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944533" y="2400300"/>
            <a:ext cx="2696633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模倣困難なDistribution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4533" y="2540000"/>
            <a:ext cx="2696633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2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学校営業モデル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2971800"/>
            <a:ext cx="3064933" cy="63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3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高校市場で学校営業→導入→CS→運用を構築済み。専門学校へ横展開。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8667" y="2222500"/>
            <a:ext cx="3395133" cy="1460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8667" y="2222500"/>
            <a:ext cx="31750" cy="146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23767" y="2387600"/>
            <a:ext cx="292100" cy="2921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3" name="Picture 22" descr="repeat_2563EB_512_1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871" y="2457704"/>
            <a:ext cx="151892" cy="1518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04767" y="2400300"/>
            <a:ext cx="2696633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強いネットワーク効果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4767" y="2540000"/>
            <a:ext cx="2696633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2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三者データの蓄積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3767" y="2971800"/>
            <a:ext cx="3064933" cy="63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3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学校・学生・企業が増えるほど価値が上がり、作品/スキルデータが堀になる。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8200" y="3835400"/>
            <a:ext cx="3395133" cy="1460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200" y="3835400"/>
            <a:ext cx="31750" cy="146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3300" y="4000500"/>
            <a:ext cx="292100" cy="2921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0" name="Picture 29" descr="badge-check_2563EB_512_1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404" y="4070604"/>
            <a:ext cx="151892" cy="15189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84300" y="4013200"/>
            <a:ext cx="2696633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実証済みの初期実績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4300" y="4152900"/>
            <a:ext cx="2696633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2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MVP・5校・10社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300" y="4584700"/>
            <a:ext cx="3064933" cy="63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3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プロダクト完成。専門学校5校・導入可能企業10社で2026年7月始動。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98433" y="3835400"/>
            <a:ext cx="3395133" cy="1460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98433" y="3835400"/>
            <a:ext cx="31750" cy="146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63533" y="4000500"/>
            <a:ext cx="292100" cy="2921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7" name="Picture 36" descr="gauge_2563EB_512_1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3637" y="4070604"/>
            <a:ext cx="151892" cy="15189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944533" y="4013200"/>
            <a:ext cx="2696633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高い資本効率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44533" y="4152900"/>
            <a:ext cx="2696633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2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LTV/CAC 6.6x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3533" y="4584700"/>
            <a:ext cx="3064933" cy="63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3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学校チャネルでCACを抑制。Payback 5ヶ月、粗利80%超の構造。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58667" y="3835400"/>
            <a:ext cx="3395133" cy="1460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58667" y="3835400"/>
            <a:ext cx="31750" cy="146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23767" y="4000500"/>
            <a:ext cx="292100" cy="2921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4" name="Picture 43" descr="users_2563EB_512_1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871" y="4070604"/>
            <a:ext cx="151892" cy="15189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504767" y="4013200"/>
            <a:ext cx="2696633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実行力あるチーム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4767" y="4152900"/>
            <a:ext cx="2696633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2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高校市場の構築者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23767" y="4584700"/>
            <a:ext cx="3064933" cy="63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3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学校営業の現場を作ったFounder陣。CEO・エンジニアの三位一体。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6470650"/>
            <a:ext cx="2540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48800" y="6470650"/>
            <a:ext cx="1905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603250"/>
            <a:ext cx="165100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9500" y="546100"/>
            <a:ext cx="102743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 spc="24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74700"/>
            <a:ext cx="10515600" cy="361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3つの追い風が、いま重なる。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35890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採用コストの高騰、HR Techの急成長、そして専門学校DXの空白。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2260600"/>
            <a:ext cx="3386667" cy="2984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8700" y="2463800"/>
            <a:ext cx="368300" cy="368300"/>
          </a:xfrm>
          <a:prstGeom prst="roundRect">
            <a:avLst>
              <a:gd name="adj" fmla="val 28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8" name="Picture 7" descr="banknote_2563EB_512_1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092" y="2552192"/>
            <a:ext cx="191516" cy="1915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81867" y="2514600"/>
            <a:ext cx="952500" cy="215900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1867" y="2508250"/>
            <a:ext cx="952500" cy="2159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+26% YoY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2997200"/>
            <a:ext cx="3005667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採用単価の高騰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213100"/>
            <a:ext cx="3005667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¥45.0万 → ¥56.8万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28700" y="3822700"/>
            <a:ext cx="3005667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8700" y="3975100"/>
            <a:ext cx="3005667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400" b="0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新卒採用単価は1年で+26%。母集団形成型の採用は限界に。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4914900"/>
            <a:ext cx="300566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出典：マイナビ 2024年卒 企業新卒内定状況調査</a:t>
            </a:r>
          </a:p>
        </p:txBody>
      </p:sp>
      <p:pic>
        <p:nvPicPr>
          <p:cNvPr id="16" name="Picture 15" descr="trending-up_2563EB_512_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267" y="4927600"/>
            <a:ext cx="152400" cy="1524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402667" y="2260600"/>
            <a:ext cx="3386667" cy="2984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3167" y="2463800"/>
            <a:ext cx="368300" cy="368300"/>
          </a:xfrm>
          <a:prstGeom prst="roundRect">
            <a:avLst>
              <a:gd name="adj" fmla="val 28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9" name="Picture 18" descr="zap_2563EB_512_1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559" y="2552192"/>
            <a:ext cx="191516" cy="19151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646333" y="2514600"/>
            <a:ext cx="952500" cy="215900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6333" y="2508250"/>
            <a:ext cx="952500" cy="2159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CAGR +31.8%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3167" y="2997200"/>
            <a:ext cx="3005667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HR Techクラウドの急成長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3167" y="3213100"/>
            <a:ext cx="3005667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¥1,385億 → ¥3,200億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93167" y="3822700"/>
            <a:ext cx="3005666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93167" y="3975100"/>
            <a:ext cx="3005667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400" b="0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2022→2027でCAGR +31.8%。採用はSaaS×データへ移行中。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3167" y="4914900"/>
            <a:ext cx="300566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出典：ミック経済研究所 HRTechクラウド市場</a:t>
            </a:r>
          </a:p>
        </p:txBody>
      </p:sp>
      <p:pic>
        <p:nvPicPr>
          <p:cNvPr id="27" name="Picture 26" descr="trending-up_2563EB_512_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733" y="4927600"/>
            <a:ext cx="152400" cy="1524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7967133" y="2260600"/>
            <a:ext cx="3386667" cy="2984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57633" y="2463800"/>
            <a:ext cx="368300" cy="368300"/>
          </a:xfrm>
          <a:prstGeom prst="roundRect">
            <a:avLst>
              <a:gd name="adj" fmla="val 28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0" name="Picture 29" descr="school_2563EB_512_1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6025" y="2552192"/>
            <a:ext cx="191516" cy="191516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0210800" y="2514600"/>
            <a:ext cx="952500" cy="215900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0800" y="2508250"/>
            <a:ext cx="952500" cy="2159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0 → 1 の市場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7633" y="2997200"/>
            <a:ext cx="3005667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専門学校DXの空白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7633" y="3213100"/>
            <a:ext cx="3005667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2,676校 が未DX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157633" y="3822700"/>
            <a:ext cx="3005667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157633" y="3975100"/>
            <a:ext cx="3005667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400" b="0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求人・就職管理はアナログ中心。スキル人材の流通網が存在しない。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7633" y="4914900"/>
            <a:ext cx="300566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出典：文部科学省 令和6年度 学校基本調査</a:t>
            </a:r>
          </a:p>
        </p:txBody>
      </p:sp>
      <p:pic>
        <p:nvPicPr>
          <p:cNvPr id="38" name="Picture 37" descr="trending-up_2563EB_512_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200" y="4927600"/>
            <a:ext cx="152400" cy="1524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38200" y="6470650"/>
            <a:ext cx="2540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48800" y="6470650"/>
            <a:ext cx="1905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603250"/>
            <a:ext cx="165100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9500" y="546100"/>
            <a:ext cx="102743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 spc="24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74700"/>
            <a:ext cx="10515600" cy="361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才能が、履歴書に埋もれている。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35890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学校・学生・企業の三者が、それぞれの断絶を抱えている。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7969250" y="2762250"/>
            <a:ext cx="1111250" cy="1905000"/>
          </a:xfrm>
          <a:prstGeom prst="line">
            <a:avLst/>
          </a:prstGeom>
          <a:ln w="22860" cap="rnd">
            <a:solidFill>
              <a:srgbClr val="E11D4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429625" y="36195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8" name="Picture 7" descr="x_E11D48_512_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075" y="3663950"/>
            <a:ext cx="101600" cy="10160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9080500" y="2762250"/>
            <a:ext cx="1111250" cy="1905000"/>
          </a:xfrm>
          <a:prstGeom prst="line">
            <a:avLst/>
          </a:prstGeom>
          <a:ln w="22860" cap="rnd">
            <a:solidFill>
              <a:srgbClr val="E11D4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540875" y="36195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1" name="Picture 10" descr="x_E11D48_512_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5325" y="3663950"/>
            <a:ext cx="101600" cy="10160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7969250" y="4667250"/>
            <a:ext cx="2222500" cy="0"/>
          </a:xfrm>
          <a:prstGeom prst="line">
            <a:avLst/>
          </a:prstGeom>
          <a:ln w="22860" cap="rnd">
            <a:solidFill>
              <a:srgbClr val="E11D4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985250" y="4572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4" name="Picture 13" descr="x_E11D48_512_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0" y="4616450"/>
            <a:ext cx="101600" cy="1016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712200" y="2393950"/>
            <a:ext cx="736600" cy="736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6" name="Picture 15" descr="graduation-cap_111111_512_1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100" y="257175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12200" y="2940050"/>
            <a:ext cx="7366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学生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00950" y="4298950"/>
            <a:ext cx="736600" cy="736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9" name="Picture 18" descr="school_111111_512_1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6850" y="4476750"/>
            <a:ext cx="30480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00950" y="4845050"/>
            <a:ext cx="7366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学校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3450" y="4298950"/>
            <a:ext cx="736600" cy="736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building-2_111111_512_1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9350" y="4476750"/>
            <a:ext cx="30480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823450" y="4845050"/>
            <a:ext cx="7366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企業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8200" y="2222500"/>
            <a:ext cx="6858000" cy="952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3300" y="2413000"/>
            <a:ext cx="355600" cy="355600"/>
          </a:xfrm>
          <a:prstGeom prst="roundRect">
            <a:avLst>
              <a:gd name="adj" fmla="val 26000"/>
            </a:avLst>
          </a:prstGeom>
          <a:solidFill>
            <a:srgbClr val="FC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6" name="Picture 25" descr="graduation-cap_E11D48_512_1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644" y="2498344"/>
            <a:ext cx="184912" cy="1849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98600" y="2413000"/>
            <a:ext cx="7620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E11D48"/>
                </a:solidFill>
                <a:latin typeface="Inter"/>
                <a:ea typeface="Noto Sans JP"/>
                <a:cs typeface="Inter"/>
              </a:rPr>
              <a:t>学生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98600" y="2565400"/>
            <a:ext cx="6032500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1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スキルが、伝わらない。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8600" y="2832100"/>
            <a:ext cx="60325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作品・実績があっても、履歴書とエントリーシートでしか評価されない。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8200" y="3314700"/>
            <a:ext cx="6858000" cy="952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3300" y="3505200"/>
            <a:ext cx="355600" cy="355600"/>
          </a:xfrm>
          <a:prstGeom prst="roundRect">
            <a:avLst>
              <a:gd name="adj" fmla="val 26000"/>
            </a:avLst>
          </a:prstGeom>
          <a:solidFill>
            <a:srgbClr val="FC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2" name="Picture 31" descr="building-2_E11D48_512_1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644" y="3590544"/>
            <a:ext cx="184912" cy="1849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498600" y="3505200"/>
            <a:ext cx="7620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E11D48"/>
                </a:solidFill>
                <a:latin typeface="Inter"/>
                <a:ea typeface="Noto Sans JP"/>
                <a:cs typeface="Inter"/>
              </a:rPr>
              <a:t>企業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8600" y="3657600"/>
            <a:ext cx="6032500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1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専門人材に、出会えない。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98600" y="3924300"/>
            <a:ext cx="60325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即戦力スキルを持つ学生が見えず、採用単価だけが上がり続ける。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8200" y="4406900"/>
            <a:ext cx="6858000" cy="952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3300" y="4597400"/>
            <a:ext cx="355600" cy="355600"/>
          </a:xfrm>
          <a:prstGeom prst="roundRect">
            <a:avLst>
              <a:gd name="adj" fmla="val 26000"/>
            </a:avLst>
          </a:prstGeom>
          <a:solidFill>
            <a:srgbClr val="FC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8" name="Picture 37" descr="school_E11D48_512_19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644" y="4682744"/>
            <a:ext cx="184912" cy="18491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498600" y="4597400"/>
            <a:ext cx="7620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E11D48"/>
                </a:solidFill>
                <a:latin typeface="Inter"/>
                <a:ea typeface="Noto Sans JP"/>
                <a:cs typeface="Inter"/>
              </a:rPr>
              <a:t>学校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98600" y="4749800"/>
            <a:ext cx="6032500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1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就職支援が、アナログ。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8600" y="5016500"/>
            <a:ext cx="60325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求人・説明会・学生管理が紙とExcel。企業との接点を作れない。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6470650"/>
            <a:ext cx="2540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48800" y="6470650"/>
            <a:ext cx="1905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603250"/>
            <a:ext cx="165100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9500" y="546100"/>
            <a:ext cx="102743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 spc="24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EXISTING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74700"/>
            <a:ext cx="10515600" cy="361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既存サービスは、三者を分断している。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35890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それぞれが一辺だけを担い、学校・学生・企業を1つに繋ぐ主体がいない。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2235200"/>
            <a:ext cx="2514600" cy="2489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3300" y="241300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8" name="Picture 7" descr="search_374151_512_1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2489200"/>
            <a:ext cx="165100" cy="165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3300" y="2819400"/>
            <a:ext cx="21844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7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求人媒体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3300" y="2997200"/>
            <a:ext cx="21844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マイナビ / リクナビ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300" y="3136900"/>
            <a:ext cx="2184400" cy="114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 spc="10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カバー範囲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3300" y="3302000"/>
            <a:ext cx="694267" cy="24130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3300" y="3295650"/>
            <a:ext cx="694267" cy="2413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学校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48367" y="3302000"/>
            <a:ext cx="694267" cy="241300"/>
          </a:xfrm>
          <a:prstGeom prst="roundRect">
            <a:avLst>
              <a:gd name="adj" fmla="val 3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48367" y="3295650"/>
            <a:ext cx="694267" cy="2413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学生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93433" y="3302000"/>
            <a:ext cx="694267" cy="241300"/>
          </a:xfrm>
          <a:prstGeom prst="roundRect">
            <a:avLst>
              <a:gd name="adj" fmla="val 3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93433" y="3295650"/>
            <a:ext cx="694267" cy="2413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企業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03300" y="3835400"/>
            <a:ext cx="2184400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03300" y="3949700"/>
            <a:ext cx="2184400" cy="63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大学中心の母集団形成。専門スキルは可視化されない。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05200" y="2235200"/>
            <a:ext cx="2514600" cy="2489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70300" y="241300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send_374151_512_1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489200"/>
            <a:ext cx="165100" cy="1651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70300" y="2819400"/>
            <a:ext cx="21844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7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スカウト媒体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0300" y="2997200"/>
            <a:ext cx="21844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OfferBox / dodaキャンパス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0300" y="3136900"/>
            <a:ext cx="2184400" cy="114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 spc="10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カバー範囲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70300" y="3302000"/>
            <a:ext cx="694267" cy="24130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0300" y="3295650"/>
            <a:ext cx="694267" cy="2413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学校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15367" y="3302000"/>
            <a:ext cx="694267" cy="241300"/>
          </a:xfrm>
          <a:prstGeom prst="roundRect">
            <a:avLst>
              <a:gd name="adj" fmla="val 3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5367" y="3295650"/>
            <a:ext cx="694267" cy="2413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学生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60433" y="3302000"/>
            <a:ext cx="694267" cy="241300"/>
          </a:xfrm>
          <a:prstGeom prst="roundRect">
            <a:avLst>
              <a:gd name="adj" fmla="val 3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0433" y="3295650"/>
            <a:ext cx="694267" cy="2413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企業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70300" y="3835400"/>
            <a:ext cx="2184400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70300" y="3949700"/>
            <a:ext cx="2184400" cy="63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プロフィール起点の逆求人。学校との連携は持たない。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2235200"/>
            <a:ext cx="2514600" cy="2489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7300" y="241300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6" name="Picture 35" descr="folder-search_374151_512_1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500" y="2489200"/>
            <a:ext cx="165100" cy="1651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337300" y="2819400"/>
            <a:ext cx="21844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7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学校管理SaaS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7300" y="2997200"/>
            <a:ext cx="21844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Campus Plan / Sakura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7300" y="3136900"/>
            <a:ext cx="2184400" cy="114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 spc="10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カバー範囲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37300" y="3302000"/>
            <a:ext cx="694267" cy="241300"/>
          </a:xfrm>
          <a:prstGeom prst="roundRect">
            <a:avLst>
              <a:gd name="adj" fmla="val 3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37300" y="3295650"/>
            <a:ext cx="694267" cy="2413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学校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82367" y="3302000"/>
            <a:ext cx="694267" cy="24130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82367" y="3295650"/>
            <a:ext cx="694267" cy="2413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学生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27433" y="3302000"/>
            <a:ext cx="694267" cy="24130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27433" y="3295650"/>
            <a:ext cx="694267" cy="2413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企業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337300" y="3835400"/>
            <a:ext cx="2184400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337300" y="3949700"/>
            <a:ext cx="2184400" cy="63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校務を効率化するが、企業・採用とは接続しない。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39200" y="2235200"/>
            <a:ext cx="2514600" cy="2489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004300" y="241300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0" name="Picture 49" descr="image_374151_512_1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00" y="2489200"/>
            <a:ext cx="165100" cy="1651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004300" y="2819400"/>
            <a:ext cx="21844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7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ポートフォリオ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4300" y="2997200"/>
            <a:ext cx="21844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foriio / Behance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4300" y="3136900"/>
            <a:ext cx="2184400" cy="114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 spc="10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カバー範囲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04300" y="3302000"/>
            <a:ext cx="694267" cy="24130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4300" y="3295650"/>
            <a:ext cx="694267" cy="2413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学校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749367" y="3302000"/>
            <a:ext cx="694267" cy="241300"/>
          </a:xfrm>
          <a:prstGeom prst="roundRect">
            <a:avLst>
              <a:gd name="adj" fmla="val 3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49367" y="3295650"/>
            <a:ext cx="694267" cy="2413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学生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494433" y="3302000"/>
            <a:ext cx="694267" cy="24130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94433" y="3295650"/>
            <a:ext cx="694267" cy="2413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企業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004300" y="3835400"/>
            <a:ext cx="2184400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004300" y="3949700"/>
            <a:ext cx="2184400" cy="63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作品を見せる場。採用・スカウトには接続しない。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8200" y="4991100"/>
            <a:ext cx="10515600" cy="406400"/>
          </a:xfrm>
          <a:prstGeom prst="roundRect">
            <a:avLst>
              <a:gd name="adj" fmla="val 14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3" name="Picture 62" descr="scan-search_1D4ED8_512_2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5099050"/>
            <a:ext cx="190500" cy="1905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282700" y="4991100"/>
            <a:ext cx="9880600" cy="406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市場は断片化。三者を同時につなぐ「キャリアインフラ」の空白が残っている。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200" y="6470650"/>
            <a:ext cx="2540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48800" y="6470650"/>
            <a:ext cx="1905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603250"/>
            <a:ext cx="165100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9500" y="546100"/>
            <a:ext cx="102743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 spc="24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74700"/>
            <a:ext cx="10515600" cy="361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USTORY next が、三者を1つにつなぐ。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35890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学校を起点に、学生のスキルと企業の採用を1つの基盤で循環させる。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6096000" y="3263900"/>
            <a:ext cx="0" cy="450850"/>
          </a:xfrm>
          <a:prstGeom prst="line">
            <a:avLst/>
          </a:prstGeom>
          <a:ln w="38100" cap="rnd">
            <a:solidFill>
              <a:srgbClr val="DBE6F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3276600" y="4178300"/>
            <a:ext cx="2057400" cy="12700"/>
          </a:xfrm>
          <a:prstGeom prst="line">
            <a:avLst/>
          </a:prstGeom>
          <a:ln w="38100" cap="rnd">
            <a:solidFill>
              <a:srgbClr val="DBE6F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858000" y="4178300"/>
            <a:ext cx="2057400" cy="12700"/>
          </a:xfrm>
          <a:prstGeom prst="line">
            <a:avLst/>
          </a:prstGeom>
          <a:ln w="38100" cap="rnd">
            <a:solidFill>
              <a:srgbClr val="DBE6F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334000" y="3714750"/>
            <a:ext cx="1524000" cy="952500"/>
          </a:xfrm>
          <a:prstGeom prst="roundRect">
            <a:avLst>
              <a:gd name="adj" fmla="val 14000"/>
            </a:avLst>
          </a:prstGeom>
          <a:solidFill>
            <a:srgbClr val="2563EB"/>
          </a:solidFill>
          <a:ln>
            <a:noFill/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0" name="Picture 9" descr="repeat_FFFFFF_512_1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300" y="3860800"/>
            <a:ext cx="279400" cy="279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0" y="4203700"/>
            <a:ext cx="15240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0" y="4394200"/>
            <a:ext cx="1524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C9DBFE"/>
                </a:solidFill>
                <a:latin typeface="Inter"/>
                <a:ea typeface="Noto Sans JP"/>
                <a:cs typeface="Inter"/>
              </a:rPr>
              <a:t>キャリアインフラ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76800" y="2019300"/>
            <a:ext cx="2438400" cy="1244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2171700"/>
            <a:ext cx="292100" cy="2921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5" name="Picture 14" descr="graduation-cap_2563EB_512_1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304" y="2241804"/>
            <a:ext cx="151892" cy="1518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10200" y="2171700"/>
            <a:ext cx="1778000" cy="2921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学生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0" y="2565400"/>
            <a:ext cx="2133600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41900" y="2730500"/>
            <a:ext cx="44450" cy="444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56200" y="2679700"/>
            <a:ext cx="20066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50" b="0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作品・動画・スキル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41900" y="2921000"/>
            <a:ext cx="44450" cy="444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6200" y="2870200"/>
            <a:ext cx="20066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50" b="0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ポートフォリオ公開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1900" y="3111500"/>
            <a:ext cx="44450" cy="444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6200" y="3060700"/>
            <a:ext cx="20066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50" b="0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企業からスカウト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8200" y="3556000"/>
            <a:ext cx="2438400" cy="1244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0600" y="3708400"/>
            <a:ext cx="292100" cy="2921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6" name="Picture 25" descr="school_2563EB_512_1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778504"/>
            <a:ext cx="151892" cy="15189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71600" y="3708400"/>
            <a:ext cx="1778000" cy="2921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学校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90600" y="4102100"/>
            <a:ext cx="2133600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03300" y="4267200"/>
            <a:ext cx="44450" cy="444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600" y="4216400"/>
            <a:ext cx="20066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50" b="0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求人・説明会を管理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3300" y="4457700"/>
            <a:ext cx="44450" cy="444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7600" y="4406900"/>
            <a:ext cx="20066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50" b="0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学生ポートフォリオ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3300" y="4648200"/>
            <a:ext cx="44450" cy="444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7600" y="4597400"/>
            <a:ext cx="20066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50" b="0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就職実績を可視化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400" y="3556000"/>
            <a:ext cx="2438400" cy="1244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67800" y="3708400"/>
            <a:ext cx="292100" cy="2921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7" name="Picture 36" descr="building-2_2563EB_512_1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7904" y="3778504"/>
            <a:ext cx="151892" cy="15189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448800" y="3708400"/>
            <a:ext cx="1778000" cy="2921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企業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067800" y="4102100"/>
            <a:ext cx="2133600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80500" y="4267200"/>
            <a:ext cx="44450" cy="444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4800" y="4216400"/>
            <a:ext cx="20066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50" b="0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スキル検索・AI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80500" y="4457700"/>
            <a:ext cx="44450" cy="444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94800" y="4406900"/>
            <a:ext cx="20066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50" b="0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ダイレクトスカウト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80500" y="4648200"/>
            <a:ext cx="44450" cy="444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94800" y="4597400"/>
            <a:ext cx="20066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50" b="0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採用管理まで一気通貫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6470650"/>
            <a:ext cx="2540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8800" y="6470650"/>
            <a:ext cx="1905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603250"/>
            <a:ext cx="165100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9500" y="546100"/>
            <a:ext cx="102743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 spc="24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74700"/>
            <a:ext cx="10515600" cy="361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3つのプロダクトが、1つにつながる。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35890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学生・企業・学校、それぞれの体験を1つのクラウド上で。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2235200"/>
            <a:ext cx="3386667" cy="3073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3300" y="240030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8" name="Picture 7" descr="graduation-cap_2563EB_512_1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2476500"/>
            <a:ext cx="165100" cy="165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97000" y="2413000"/>
            <a:ext cx="2688167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学生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7000" y="2552700"/>
            <a:ext cx="2688167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0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Portfolio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3300" y="2870200"/>
            <a:ext cx="3056467" cy="10668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3300" y="2870200"/>
            <a:ext cx="3056467" cy="19050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4900" y="2946400"/>
            <a:ext cx="44450" cy="44450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06500" y="2946400"/>
            <a:ext cx="44450" cy="44450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08100" y="2946400"/>
            <a:ext cx="44450" cy="44450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6" name="Picture 15" descr="monitor-smartphone_9CA3AF_512_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833" y="3314700"/>
            <a:ext cx="279400" cy="279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3300" y="3632200"/>
            <a:ext cx="3056467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UI placeholder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3300" y="408940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9" name="Picture 18" descr="image_2563EB_512_1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210" y="4131310"/>
            <a:ext cx="106680" cy="106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70000" y="4095750"/>
            <a:ext cx="2789767" cy="177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50" b="1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作品・動画を掲載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3300" y="435610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badge-check_2563EB_512_1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210" y="4398010"/>
            <a:ext cx="106680" cy="1066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70000" y="4362450"/>
            <a:ext cx="2789767" cy="177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50" b="1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スキルを構造化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3300" y="462280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5" name="Picture 24" descr="send_2563EB_512_1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210" y="4664710"/>
            <a:ext cx="106680" cy="1066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70000" y="4629150"/>
            <a:ext cx="2789767" cy="177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50" b="1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企業からスカウト受信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2667" y="2235200"/>
            <a:ext cx="3386667" cy="3073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67767" y="240030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9" name="Picture 28" descr="building-2_2563EB_512_1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3967" y="2476500"/>
            <a:ext cx="165100" cy="1651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961467" y="2413000"/>
            <a:ext cx="2688167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企業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1467" y="2552700"/>
            <a:ext cx="2688167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0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Hiring Cloud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67767" y="2870200"/>
            <a:ext cx="3056467" cy="10668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67767" y="2870200"/>
            <a:ext cx="3056467" cy="19050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9367" y="2946400"/>
            <a:ext cx="44450" cy="44450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70967" y="2946400"/>
            <a:ext cx="44450" cy="44450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72567" y="2946400"/>
            <a:ext cx="44450" cy="44450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7" name="Picture 36" descr="monitor-smartphone_9CA3AF_512_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300" y="3314700"/>
            <a:ext cx="279400" cy="279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567767" y="3632200"/>
            <a:ext cx="3056467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UI placeholder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67767" y="408940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0" name="Picture 39" descr="search_2563EB_512_19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9677" y="4131310"/>
            <a:ext cx="106680" cy="1066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834467" y="4095750"/>
            <a:ext cx="2789767" cy="177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50" b="1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スキル検索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67767" y="435610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3" name="Picture 42" descr="sparkles_2563EB_512_19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9677" y="4398010"/>
            <a:ext cx="106680" cy="10668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834467" y="4362450"/>
            <a:ext cx="2789767" cy="177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50" b="1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AIマッチング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67767" y="462280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6" name="Picture 45" descr="clipboard-list_2563EB_512_19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9677" y="4664710"/>
            <a:ext cx="106680" cy="1066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834467" y="4629150"/>
            <a:ext cx="2789767" cy="177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50" b="1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スカウト〜採用管理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67133" y="2235200"/>
            <a:ext cx="3386667" cy="3073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132233" y="240030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0" name="Picture 49" descr="school_2563EB_512_19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08433" y="2476500"/>
            <a:ext cx="165100" cy="1651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525933" y="2413000"/>
            <a:ext cx="2688167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学校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25933" y="2552700"/>
            <a:ext cx="2688167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0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School Cloud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32233" y="2870200"/>
            <a:ext cx="3056467" cy="10668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32233" y="2870200"/>
            <a:ext cx="3056467" cy="19050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33833" y="2946400"/>
            <a:ext cx="44450" cy="44450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35433" y="2946400"/>
            <a:ext cx="44450" cy="44450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37033" y="2946400"/>
            <a:ext cx="44450" cy="44450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8" name="Picture 57" descr="monitor-smartphone_9CA3AF_512_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67" y="3314700"/>
            <a:ext cx="279400" cy="2794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132233" y="3632200"/>
            <a:ext cx="3056467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UI placeholder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32233" y="408940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1" name="Picture 60" descr="briefcase_2563EB_512_19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74143" y="4131310"/>
            <a:ext cx="106680" cy="10668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398933" y="4095750"/>
            <a:ext cx="2789767" cy="177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50" b="1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求人管理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32233" y="435610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4" name="Picture 63" descr="megaphone_2563EB_512_19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74143" y="4398010"/>
            <a:ext cx="106680" cy="10668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398933" y="4362450"/>
            <a:ext cx="2789767" cy="177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50" b="1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説明会管理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32233" y="462280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7" name="Picture 66" descr="users_2563EB_512_19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4143" y="4664710"/>
            <a:ext cx="106680" cy="1066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398933" y="4629150"/>
            <a:ext cx="2789767" cy="177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50" b="1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学生管理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8200" y="6470650"/>
            <a:ext cx="2540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48800" y="6470650"/>
            <a:ext cx="1905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603250"/>
            <a:ext cx="165100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9500" y="546100"/>
            <a:ext cx="102743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 spc="24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WHY USTORY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74700"/>
            <a:ext cx="10515600" cy="361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競争優位は、AIではない。学校営業モデル。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35890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プロダクトは模倣される。模倣できないのは、学校への流通網。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2235200"/>
            <a:ext cx="3429000" cy="1270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87600"/>
            <a:ext cx="30734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他社の競争軸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565400"/>
            <a:ext cx="3073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600" b="1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プロダクト勝負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921000"/>
            <a:ext cx="3073400" cy="444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4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機能・AI・UIで差別化 → すぐに追いつかれ、価格競争に陥る。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8200" y="3657600"/>
            <a:ext cx="3429000" cy="1270000"/>
          </a:xfrm>
          <a:prstGeom prst="roundRect">
            <a:avLst>
              <a:gd name="adj" fmla="val 4500"/>
            </a:avLst>
          </a:prstGeom>
          <a:solidFill>
            <a:srgbClr val="2563EB"/>
          </a:solidFill>
          <a:ln>
            <a:noFill/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3810000"/>
            <a:ext cx="30734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C9DBFE"/>
                </a:solidFill>
                <a:latin typeface="Inter"/>
                <a:ea typeface="Noto Sans JP"/>
                <a:cs typeface="Inter"/>
              </a:rPr>
              <a:t>USTORYの競争軸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987800"/>
            <a:ext cx="3073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600" b="1">
                <a:solidFill>
                  <a:srgbClr val="FFFFFF"/>
                </a:solidFill>
                <a:latin typeface="Inter"/>
                <a:ea typeface="Noto Sans JP"/>
                <a:cs typeface="Inter"/>
              </a:rPr>
              <a:t>Distribution勝負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4343400"/>
            <a:ext cx="3073400" cy="444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400" b="0">
                <a:solidFill>
                  <a:srgbClr val="E3ECFE"/>
                </a:solidFill>
                <a:latin typeface="Inter"/>
                <a:ea typeface="Noto Sans JP"/>
                <a:cs typeface="Inter"/>
              </a:rPr>
              <a:t>学校との信頼関係と運用網。後発でも入り込めない参入障壁になる。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235200"/>
            <a:ext cx="6781800" cy="2997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5200" y="2413000"/>
            <a:ext cx="63754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実証済みの学校営業エンジン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06000" y="2400300"/>
            <a:ext cx="1244600" cy="215900"/>
          </a:xfrm>
          <a:prstGeom prst="roundRect">
            <a:avLst>
              <a:gd name="adj" fmla="val 50000"/>
            </a:avLst>
          </a:prstGeom>
          <a:solidFill>
            <a:srgbClr val="E7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6000" y="2393950"/>
            <a:ext cx="1244600" cy="2159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059669"/>
                </a:solidFill>
                <a:latin typeface="Inter"/>
                <a:ea typeface="Noto Sans JP"/>
                <a:cs typeface="Inter"/>
              </a:rPr>
              <a:t>高校市場で構築済み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2933700"/>
            <a:ext cx="1377950" cy="7366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56225" y="303530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0" name="Picture 19" descr="handshake_2563EB_512_1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425" y="3111500"/>
            <a:ext cx="165100" cy="1651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26000" y="3403600"/>
            <a:ext cx="137795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4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学校営業</a:t>
            </a:r>
          </a:p>
        </p:txBody>
      </p:sp>
      <p:pic>
        <p:nvPicPr>
          <p:cNvPr id="22" name="Picture 21" descr="arrow-right_2563EB_512_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50" y="3213100"/>
            <a:ext cx="165100" cy="1651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457950" y="2933700"/>
            <a:ext cx="1377950" cy="7366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88175" y="303530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5" name="Picture 24" descr="badge-check_2563EB_512_1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4375" y="3111500"/>
            <a:ext cx="165100" cy="1651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57950" y="3403600"/>
            <a:ext cx="137795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4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導入</a:t>
            </a:r>
          </a:p>
        </p:txBody>
      </p:sp>
      <p:pic>
        <p:nvPicPr>
          <p:cNvPr id="27" name="Picture 26" descr="arrow-right_2563EB_512_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100" y="3213100"/>
            <a:ext cx="165100" cy="1651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089900" y="2933700"/>
            <a:ext cx="1377950" cy="7366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20125" y="303530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0" name="Picture 29" descr="headset_2563EB_512_1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6325" y="3111500"/>
            <a:ext cx="165100" cy="1651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089900" y="3403600"/>
            <a:ext cx="137795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4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CS</a:t>
            </a:r>
          </a:p>
        </p:txBody>
      </p:sp>
      <p:pic>
        <p:nvPicPr>
          <p:cNvPr id="32" name="Picture 31" descr="arrow-right_2563EB_512_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050" y="3213100"/>
            <a:ext cx="165100" cy="1651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721850" y="2933700"/>
            <a:ext cx="1377950" cy="7366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252075" y="303530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5" name="Picture 34" descr="settings_2563EB_512_1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8275" y="3111500"/>
            <a:ext cx="165100" cy="1651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721850" y="3403600"/>
            <a:ext cx="137795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4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運用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826000" y="3949700"/>
            <a:ext cx="6273800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826000" y="4064000"/>
            <a:ext cx="62738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そのまま専門学校市場へ横展開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26000" y="4305300"/>
            <a:ext cx="2634996" cy="444500"/>
          </a:xfrm>
          <a:prstGeom prst="roundRect">
            <a:avLst>
              <a:gd name="adj" fmla="val 10000"/>
            </a:avLst>
          </a:prstGeom>
          <a:solidFill>
            <a:srgbClr val="E7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53000" y="4381500"/>
            <a:ext cx="1651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059669"/>
                </a:solidFill>
                <a:latin typeface="Inter"/>
                <a:ea typeface="Noto Sans JP"/>
                <a:cs typeface="Inter"/>
              </a:rPr>
              <a:t>高校市場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3000" y="4533900"/>
            <a:ext cx="1651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0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学校営業を構築・実証</a:t>
            </a:r>
          </a:p>
        </p:txBody>
      </p:sp>
      <p:pic>
        <p:nvPicPr>
          <p:cNvPr id="42" name="Picture 41" descr="arrow-right_111111_512_2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6472" y="4432300"/>
            <a:ext cx="177800" cy="1778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8088376" y="4305300"/>
            <a:ext cx="3011424" cy="4445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8076" y="4381500"/>
            <a:ext cx="2032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Inter"/>
                <a:ea typeface="Noto Sans JP"/>
                <a:cs typeface="Inter"/>
              </a:rPr>
              <a:t>専門学校市場 — 2,676校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8076" y="4533900"/>
            <a:ext cx="2032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0">
                <a:solidFill>
                  <a:srgbClr val="E3ECFE"/>
                </a:solidFill>
                <a:latin typeface="Inter"/>
                <a:ea typeface="Noto Sans JP"/>
                <a:cs typeface="Inter"/>
              </a:rPr>
              <a:t>同じ営業網で一気に獲得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6470650"/>
            <a:ext cx="2540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48800" y="6470650"/>
            <a:ext cx="1905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603250"/>
            <a:ext cx="165100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9500" y="546100"/>
            <a:ext cx="102743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 spc="24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74700"/>
            <a:ext cx="10515600" cy="361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1兆円規模の市場に、最短距離で入る。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35890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人材ビジネス市場を頂点に、専門学校採用というビーコンから攻める。</a:t>
            </a:r>
          </a:p>
        </p:txBody>
      </p:sp>
      <p:sp>
        <p:nvSpPr>
          <p:cNvPr id="6" name="Oval 5"/>
          <p:cNvSpPr/>
          <p:nvPr/>
        </p:nvSpPr>
        <p:spPr>
          <a:xfrm>
            <a:off x="2260600" y="2514600"/>
            <a:ext cx="2438400" cy="2438400"/>
          </a:xfrm>
          <a:prstGeom prst="ellipse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35250" y="2889250"/>
            <a:ext cx="1689100" cy="1689100"/>
          </a:xfrm>
          <a:prstGeom prst="ellipse">
            <a:avLst/>
          </a:prstGeom>
          <a:solidFill>
            <a:srgbClr val="DB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78150" y="3232150"/>
            <a:ext cx="1003300" cy="10033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3492500"/>
            <a:ext cx="1016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2100" b="1">
                <a:solidFill>
                  <a:srgbClr val="FFFFFF"/>
                </a:solidFill>
                <a:latin typeface="Inter"/>
                <a:ea typeface="Noto Sans JP"/>
                <a:cs typeface="Inter"/>
              </a:rPr>
              <a:t>¥140億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683000"/>
            <a:ext cx="10160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150" b="1">
                <a:solidFill>
                  <a:srgbClr val="C9DBFE"/>
                </a:solidFill>
                <a:latin typeface="Inter"/>
                <a:ea typeface="Noto Sans JP"/>
                <a:cs typeface="Inter"/>
              </a:rPr>
              <a:t>SOM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7300" y="4051300"/>
            <a:ext cx="19050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SAM · ¥2,851億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2800" y="4419600"/>
            <a:ext cx="27940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TAM · ¥10.2兆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3500" y="2019300"/>
            <a:ext cx="4940300" cy="8382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0" y="2184400"/>
            <a:ext cx="17272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00" b="1" spc="15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000" y="2362200"/>
            <a:ext cx="1727200" cy="31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¥10.2兆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69300" y="2197100"/>
            <a:ext cx="0" cy="48260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59800" y="2209800"/>
            <a:ext cx="26162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日本の人材ビジネス市場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9800" y="2425700"/>
            <a:ext cx="2616200" cy="31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人材派遣・紹介・再就職支援の総市場。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3500" y="2971800"/>
            <a:ext cx="4940300" cy="838200"/>
          </a:xfrm>
          <a:prstGeom prst="roundRect">
            <a:avLst>
              <a:gd name="adj" fmla="val 4500"/>
            </a:avLst>
          </a:prstGeom>
          <a:solidFill>
            <a:srgbClr val="EEF3FE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4000" y="3136900"/>
            <a:ext cx="17272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00" b="1" spc="15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SAM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4000" y="3314700"/>
            <a:ext cx="1727200" cy="31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¥2,851億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69300" y="3149600"/>
            <a:ext cx="0" cy="48260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59800" y="3162300"/>
            <a:ext cx="26162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新卒採用支援 ＋ HR Tech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9800" y="3378200"/>
            <a:ext cx="2616200" cy="31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¥1,466億 ＋ ¥1,385億。年20〜30%で成長。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3500" y="3924300"/>
            <a:ext cx="4940300" cy="838200"/>
          </a:xfrm>
          <a:prstGeom prst="roundRect">
            <a:avLst>
              <a:gd name="adj" fmla="val 45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4000" y="4089400"/>
            <a:ext cx="17272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00" b="1" spc="150">
                <a:solidFill>
                  <a:srgbClr val="C9DBFE"/>
                </a:solidFill>
                <a:latin typeface="Inter"/>
                <a:ea typeface="Noto Sans JP"/>
                <a:cs typeface="Inter"/>
              </a:rPr>
              <a:t>SOM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4000" y="4267200"/>
            <a:ext cx="1727200" cy="31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800" b="1">
                <a:solidFill>
                  <a:srgbClr val="FFFFFF"/>
                </a:solidFill>
                <a:latin typeface="Inter"/>
                <a:ea typeface="Noto Sans JP"/>
                <a:cs typeface="Inter"/>
              </a:rPr>
              <a:t>¥140億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69300" y="4102100"/>
            <a:ext cx="0" cy="482600"/>
          </a:xfrm>
          <a:prstGeom prst="line">
            <a:avLst/>
          </a:prstGeom>
          <a:ln w="12700" cap="rnd">
            <a:solidFill>
              <a:srgbClr val="3B7B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59800" y="4114800"/>
            <a:ext cx="26162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Inter"/>
                <a:ea typeface="Noto Sans JP"/>
                <a:cs typeface="Inter"/>
              </a:rPr>
              <a:t>専門学校卒の採用市場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59800" y="4330700"/>
            <a:ext cx="2616200" cy="31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0">
                <a:solidFill>
                  <a:srgbClr val="E3ECFE"/>
                </a:solidFill>
                <a:latin typeface="Inter"/>
                <a:ea typeface="Noto Sans JP"/>
                <a:cs typeface="Inter"/>
              </a:rPr>
              <a:t>専門卒採用 約¥1,400億の10%を5年で獲得。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8200" y="5067300"/>
            <a:ext cx="2552700" cy="5080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900" y="5156200"/>
            <a:ext cx="22733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2,676校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7900" y="5397500"/>
            <a:ext cx="22733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専門学校数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92500" y="5067300"/>
            <a:ext cx="2552700" cy="5080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32200" y="5156200"/>
            <a:ext cx="22733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558,255名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2200" y="5397500"/>
            <a:ext cx="22733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専門学校生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46800" y="5067300"/>
            <a:ext cx="2552700" cy="5080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6500" y="5156200"/>
            <a:ext cx="22733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¥56.8万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500" y="5397500"/>
            <a:ext cx="22733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新卒採用単価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01100" y="5067300"/>
            <a:ext cx="2552700" cy="5080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40800" y="5156200"/>
            <a:ext cx="22733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+31.8%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40800" y="5397500"/>
            <a:ext cx="22733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HR Tech CAGR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6261100"/>
            <a:ext cx="105156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出典：文部科学省 令和6年度学校基本調査／矢野経済研究所（新卒採用支援・人材ビジネス）／ミック経済研究所（HRTechクラウド）／マイナビ 2024年卒調査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6470650"/>
            <a:ext cx="2540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48800" y="6470650"/>
            <a:ext cx="1905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603250"/>
            <a:ext cx="165100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9500" y="546100"/>
            <a:ext cx="102743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 spc="24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74700"/>
            <a:ext cx="10515600" cy="361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収益は、4段階で積み上がる。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35890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企業SaaSから始め、スカウト・採用課金・AIへと単価を拡張する。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2705100"/>
            <a:ext cx="2514600" cy="19431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8200" y="2705100"/>
            <a:ext cx="2514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3300" y="287020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9" name="Picture 8" descr="layers_2563EB_512_1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2946400"/>
            <a:ext cx="165100" cy="1651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578100" y="2921000"/>
            <a:ext cx="609600" cy="203200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100" y="2914650"/>
            <a:ext cx="609600" cy="20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15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¥3万/月〜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300" y="3289300"/>
            <a:ext cx="21844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1" spc="15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3300" y="3429000"/>
            <a:ext cx="2184400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3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企業SaaS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3300" y="3657600"/>
            <a:ext cx="21844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月額課金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3300" y="3873500"/>
            <a:ext cx="2184400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3300" y="3987800"/>
            <a:ext cx="2184400" cy="546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3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企業の採用管理を月額SaaSで提供。安定したMRRの土台。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05200" y="2565400"/>
            <a:ext cx="2514600" cy="2082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05200" y="2565400"/>
            <a:ext cx="2514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70300" y="273050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0" name="Picture 19" descr="send_2563EB_512_1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806700"/>
            <a:ext cx="165100" cy="1651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245100" y="2781300"/>
            <a:ext cx="609600" cy="203200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45100" y="2774950"/>
            <a:ext cx="609600" cy="20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15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ARPA拡大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0300" y="3149600"/>
            <a:ext cx="21844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1" spc="15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0300" y="3289300"/>
            <a:ext cx="2184400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3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スカウト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0300" y="3517900"/>
            <a:ext cx="21844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従量課金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70300" y="3733800"/>
            <a:ext cx="2184400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70300" y="3848100"/>
            <a:ext cx="21844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3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学生プロフィールへのダイレクトスカウトを従量で提供。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2425700"/>
            <a:ext cx="2514600" cy="2222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2425700"/>
            <a:ext cx="2514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37300" y="259080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1" name="Picture 30" descr="badge-check_2563EB_512_1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500" y="2667000"/>
            <a:ext cx="165100" cy="1651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912100" y="2641600"/>
            <a:ext cx="609600" cy="203200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12100" y="2635250"/>
            <a:ext cx="609600" cy="20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15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成功報酬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7300" y="3009900"/>
            <a:ext cx="21844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1" spc="15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Phase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7300" y="3149600"/>
            <a:ext cx="2184400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3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採用課金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7300" y="3378200"/>
            <a:ext cx="21844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成果報酬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37300" y="3594100"/>
            <a:ext cx="2184400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37300" y="3708400"/>
            <a:ext cx="2184400" cy="825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3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採用決定時の成功報酬。高単価レイヤーを上積み。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39200" y="2286000"/>
            <a:ext cx="2514600" cy="2362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39200" y="2286000"/>
            <a:ext cx="2514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04300" y="245110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2" name="Picture 41" descr="sparkles_2563EB_512_1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00" y="2527300"/>
            <a:ext cx="165100" cy="1651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10579100" y="2501900"/>
            <a:ext cx="609600" cy="203200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9100" y="2495550"/>
            <a:ext cx="609600" cy="20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15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LTV最大化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4300" y="2870200"/>
            <a:ext cx="21844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1" spc="15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Phase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4300" y="3009900"/>
            <a:ext cx="2184400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3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4300" y="3238500"/>
            <a:ext cx="21844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付加価値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004300" y="3454400"/>
            <a:ext cx="2184400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004300" y="3568700"/>
            <a:ext cx="21844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3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AIマッチング・スキル評価で単価と継続率をさらに向上。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8200" y="4889500"/>
            <a:ext cx="10515600" cy="3683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1" name="Picture 50" descr="trending-up_1D4ED8_512_2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4984750"/>
            <a:ext cx="177800" cy="1778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257300" y="4889500"/>
            <a:ext cx="9944100" cy="3683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50" b="1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学校チャネルで企業を低CACで獲得 → SaaSで土台 → スカウト・採用課金でARPAを拡張する積み上げ型モデル。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200" y="6470650"/>
            <a:ext cx="2540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48800" y="6470650"/>
            <a:ext cx="1905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603250"/>
            <a:ext cx="165100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9500" y="546100"/>
            <a:ext cx="102743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 spc="24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GO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74700"/>
            <a:ext cx="10515600" cy="361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学校を入口に、企業を面で取る。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35890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学校1校の導入が、数百人の学生と数十社の企業を連れてくる。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2235200"/>
            <a:ext cx="4902200" cy="609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5200" y="23812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8" name="Picture 7" descr="school_2563EB_512_1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2457450"/>
            <a:ext cx="165100" cy="165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84300" y="2387600"/>
            <a:ext cx="32258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専門学校を開拓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4300" y="2565400"/>
            <a:ext cx="32258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学校営業モデルで導入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00" y="2235200"/>
            <a:ext cx="787400" cy="609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2700" b="1">
                <a:solidFill>
                  <a:srgbClr val="2563EB"/>
                </a:solidFill>
                <a:latin typeface="Inter"/>
                <a:ea typeface="Noto Sans JP"/>
                <a:cs typeface="Inter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3700" y="2235200"/>
            <a:ext cx="228600" cy="609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2563EB"/>
                </a:solidFill>
                <a:latin typeface="Inter"/>
                <a:ea typeface="Noto Sans JP"/>
                <a:cs typeface="Inter"/>
              </a:rPr>
              <a:t>校</a:t>
            </a:r>
          </a:p>
        </p:txBody>
      </p:sp>
      <p:pic>
        <p:nvPicPr>
          <p:cNvPr id="13" name="Picture 12" descr="chevron-right_9CA3AF_512_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450" y="2832100"/>
            <a:ext cx="139700" cy="1397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16000" y="2997200"/>
            <a:ext cx="4546600" cy="609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31432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6" name="Picture 15" descr="graduation-cap_2563EB_512_1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3219450"/>
            <a:ext cx="165100" cy="165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62100" y="3149600"/>
            <a:ext cx="28702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学生がオンボード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62100" y="3327400"/>
            <a:ext cx="28702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ポートフォリオを公開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800" y="2997200"/>
            <a:ext cx="787400" cy="609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2700" b="1">
                <a:solidFill>
                  <a:srgbClr val="2563EB"/>
                </a:solidFill>
                <a:latin typeface="Inter"/>
                <a:ea typeface="Noto Sans JP"/>
                <a:cs typeface="Inter"/>
              </a:rPr>
              <a:t>数千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5900" y="2997200"/>
            <a:ext cx="228600" cy="609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2563EB"/>
                </a:solidFill>
                <a:latin typeface="Inter"/>
                <a:ea typeface="Noto Sans JP"/>
                <a:cs typeface="Inter"/>
              </a:rPr>
              <a:t>名</a:t>
            </a:r>
          </a:p>
        </p:txBody>
      </p:sp>
      <p:pic>
        <p:nvPicPr>
          <p:cNvPr id="21" name="Picture 20" descr="chevron-right_9CA3AF_512_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450" y="3594100"/>
            <a:ext cx="139700" cy="1397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193800" y="3759200"/>
            <a:ext cx="4191000" cy="609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20800" y="39052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4" name="Picture 23" descr="building-2_2563EB_512_1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0" y="3981450"/>
            <a:ext cx="165100" cy="1651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39900" y="3911600"/>
            <a:ext cx="25146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企業が無料で参加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9900" y="4089400"/>
            <a:ext cx="25146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学生を検索・スカウト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8000" y="3759200"/>
            <a:ext cx="787400" cy="609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2700" b="1">
                <a:solidFill>
                  <a:srgbClr val="2563EB"/>
                </a:solidFill>
                <a:latin typeface="Inter"/>
                <a:ea typeface="Noto Sans JP"/>
                <a:cs typeface="Inter"/>
              </a:rPr>
              <a:t>3,000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8100" y="3759200"/>
            <a:ext cx="228600" cy="609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2563EB"/>
                </a:solidFill>
                <a:latin typeface="Inter"/>
                <a:ea typeface="Noto Sans JP"/>
                <a:cs typeface="Inter"/>
              </a:rPr>
              <a:t>社</a:t>
            </a:r>
          </a:p>
        </p:txBody>
      </p:sp>
      <p:pic>
        <p:nvPicPr>
          <p:cNvPr id="29" name="Picture 28" descr="chevron-right_9CA3AF_512_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450" y="4356100"/>
            <a:ext cx="139700" cy="1397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371600" y="4521200"/>
            <a:ext cx="3835400" cy="609600"/>
          </a:xfrm>
          <a:prstGeom prst="roundRect">
            <a:avLst>
              <a:gd name="adj" fmla="val 4500"/>
            </a:avLst>
          </a:prstGeom>
          <a:solidFill>
            <a:srgbClr val="EEF3FE"/>
          </a:solidFill>
          <a:ln>
            <a:noFill/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498600" y="46672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2" name="Picture 31" descr="credit-card_2563EB_512_1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4800" y="4743450"/>
            <a:ext cx="165100" cy="1651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917700" y="4673600"/>
            <a:ext cx="21590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企業が有料転換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17700" y="4851400"/>
            <a:ext cx="2159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SaaS・スカウトで課金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40200" y="4521200"/>
            <a:ext cx="787400" cy="609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27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180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40300" y="4521200"/>
            <a:ext cx="228600" cy="609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社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45200" y="2235200"/>
            <a:ext cx="5308600" cy="29083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5700" y="2413000"/>
            <a:ext cx="49276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学校チャネルの強さ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5700" y="273050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0" name="Picture 39" descr="route_2563EB_512_1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1900" y="2806700"/>
            <a:ext cx="165100" cy="1651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654800" y="2717800"/>
            <a:ext cx="45085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低CAC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4800" y="2895600"/>
            <a:ext cx="45085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350" b="0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学校1校の導入で学生・企業をまとめて獲得。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35700" y="347980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4" name="Picture 43" descr="repeat_2563EB_512_19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1900" y="3556000"/>
            <a:ext cx="165100" cy="1651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654800" y="3467100"/>
            <a:ext cx="45085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高い定着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54800" y="3644900"/>
            <a:ext cx="45085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350" b="0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校務に組み込まれ、毎年新入生が自動流入。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35700" y="422910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8" name="Picture 47" descr="trending-up_2563EB_512_19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1900" y="4305300"/>
            <a:ext cx="165100" cy="1651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654800" y="4216400"/>
            <a:ext cx="45085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面の拡大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4800" y="4394200"/>
            <a:ext cx="45085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350" b="0">
                <a:solidFill>
                  <a:srgbClr val="374151"/>
                </a:solidFill>
                <a:latin typeface="Inter"/>
                <a:ea typeface="Noto Sans JP"/>
                <a:cs typeface="Inter"/>
              </a:rPr>
              <a:t>学生→企業→学校と需給が相互に呼び込む。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5700" y="4787900"/>
            <a:ext cx="4927600" cy="2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18ヶ月で 50校 → 3,000社（無料）→ 180社（有料）。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6470650"/>
            <a:ext cx="2540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48800" y="6470650"/>
            <a:ext cx="1905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603250"/>
            <a:ext cx="165100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9500" y="546100"/>
            <a:ext cx="102743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 spc="24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NETWORK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74700"/>
            <a:ext cx="10515600" cy="361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増えるほど、強くなる。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35890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三者とデータが循環し、後発が崩せない堀になる。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64000" y="2508250"/>
            <a:ext cx="1365250" cy="1365250"/>
          </a:xfrm>
          <a:prstGeom prst="line">
            <a:avLst/>
          </a:prstGeom>
          <a:ln w="38100" cap="rnd">
            <a:solidFill>
              <a:srgbClr val="DBE6F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064000" y="3873500"/>
            <a:ext cx="1365250" cy="1365250"/>
          </a:xfrm>
          <a:prstGeom prst="line">
            <a:avLst/>
          </a:prstGeom>
          <a:ln w="38100" cap="rnd">
            <a:solidFill>
              <a:srgbClr val="DBE6F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698750" y="3873500"/>
            <a:ext cx="1365250" cy="1365250"/>
          </a:xfrm>
          <a:prstGeom prst="line">
            <a:avLst/>
          </a:prstGeom>
          <a:ln w="38100" cap="rnd">
            <a:solidFill>
              <a:srgbClr val="DBE6F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698750" y="2508250"/>
            <a:ext cx="1365250" cy="1365250"/>
          </a:xfrm>
          <a:prstGeom prst="line">
            <a:avLst/>
          </a:prstGeom>
          <a:ln w="38100" cap="rnd">
            <a:solidFill>
              <a:srgbClr val="DBE6F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619500" y="3429000"/>
            <a:ext cx="889000" cy="889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1" name="Picture 10" descr="repeat_FFFFFF_512_1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0" y="3632200"/>
            <a:ext cx="38100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19500" y="4025900"/>
            <a:ext cx="889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C9DBFE"/>
                </a:solidFill>
                <a:latin typeface="Inter"/>
                <a:ea typeface="Noto Sans JP"/>
                <a:cs typeface="Inter"/>
              </a:rPr>
              <a:t>Flywheel</a:t>
            </a:r>
          </a:p>
        </p:txBody>
      </p:sp>
      <p:sp>
        <p:nvSpPr>
          <p:cNvPr id="13" name="Oval 12"/>
          <p:cNvSpPr/>
          <p:nvPr/>
        </p:nvSpPr>
        <p:spPr>
          <a:xfrm>
            <a:off x="3708400" y="2152650"/>
            <a:ext cx="711200" cy="71120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4" name="Picture 13" descr="school_2563EB_512_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950" y="2317750"/>
            <a:ext cx="292100" cy="292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11500" y="19748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35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学校が増える</a:t>
            </a:r>
          </a:p>
        </p:txBody>
      </p:sp>
      <p:sp>
        <p:nvSpPr>
          <p:cNvPr id="16" name="Oval 15"/>
          <p:cNvSpPr/>
          <p:nvPr/>
        </p:nvSpPr>
        <p:spPr>
          <a:xfrm>
            <a:off x="5073650" y="3517900"/>
            <a:ext cx="711200" cy="71120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graduation-cap_2563EB_512_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200" y="3683000"/>
            <a:ext cx="292100" cy="292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76750" y="427990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35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学生・作品が増える</a:t>
            </a:r>
          </a:p>
        </p:txBody>
      </p:sp>
      <p:sp>
        <p:nvSpPr>
          <p:cNvPr id="19" name="Oval 18"/>
          <p:cNvSpPr/>
          <p:nvPr/>
        </p:nvSpPr>
        <p:spPr>
          <a:xfrm>
            <a:off x="3708400" y="4883150"/>
            <a:ext cx="711200" cy="71120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0" name="Picture 19" descr="building-2_2563EB_512_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7950" y="5048250"/>
            <a:ext cx="292100" cy="2921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111500" y="56578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35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企業が集まる</a:t>
            </a:r>
          </a:p>
        </p:txBody>
      </p:sp>
      <p:sp>
        <p:nvSpPr>
          <p:cNvPr id="22" name="Oval 21"/>
          <p:cNvSpPr/>
          <p:nvPr/>
        </p:nvSpPr>
        <p:spPr>
          <a:xfrm>
            <a:off x="2343150" y="3517900"/>
            <a:ext cx="711200" cy="71120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3" name="Picture 22" descr="badge-check_2563EB_512_1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2700" y="3683000"/>
            <a:ext cx="292100" cy="2921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46250" y="427990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35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採用実績が貯まる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9000" y="2222500"/>
            <a:ext cx="4114800" cy="2984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2200" y="2413000"/>
            <a:ext cx="37084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データが、堀になる。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42200" y="2667000"/>
            <a:ext cx="3708400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42200" y="2806700"/>
            <a:ext cx="292100" cy="2921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9" name="Picture 28" descr="image_2563EB_512_1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2304" y="2876804"/>
            <a:ext cx="151892" cy="15189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823200" y="2794000"/>
            <a:ext cx="33528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作品・スキルデータ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3200" y="2959100"/>
            <a:ext cx="33528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学生の実力を示す独自データが蓄積。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42200" y="3390900"/>
            <a:ext cx="292100" cy="2921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3" name="Picture 32" descr="badge-check_2563EB_512_19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2304" y="3461004"/>
            <a:ext cx="151892" cy="15189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823200" y="3378200"/>
            <a:ext cx="33528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採用実績データ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23200" y="3543300"/>
            <a:ext cx="33528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どのスキルが採用に繋がるかを学習。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42200" y="3975100"/>
            <a:ext cx="292100" cy="2921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7" name="Picture 36" descr="sparkles_2563EB_512_19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2304" y="4045204"/>
            <a:ext cx="151892" cy="15189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823200" y="3962400"/>
            <a:ext cx="33528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AIマッチング精度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3200" y="4127500"/>
            <a:ext cx="33528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データが増えるほどマッチングが向上。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2200" y="4559300"/>
            <a:ext cx="292100" cy="2921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1" name="Picture 40" descr="school_2563EB_512_19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2304" y="4629404"/>
            <a:ext cx="151892" cy="15189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823200" y="4546600"/>
            <a:ext cx="33528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学校との関係資産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3200" y="4711700"/>
            <a:ext cx="33528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毎年の新入生が自動で供給される。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6470650"/>
            <a:ext cx="2540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48800" y="6470650"/>
            <a:ext cx="1905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603250"/>
            <a:ext cx="165100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9500" y="546100"/>
            <a:ext cx="102743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 spc="24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74700"/>
            <a:ext cx="10515600" cy="361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プロダクトは完成。市場は始動している。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35890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MVPとデモは完成済み。2026年7月の正式リリースに向け面が揃った。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2235200"/>
            <a:ext cx="2505075" cy="1460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6000" y="2413000"/>
            <a:ext cx="330200" cy="3302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8" name="Picture 7" descr="badge-check_2563EB_512_1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248" y="2492248"/>
            <a:ext cx="171704" cy="1717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6000" y="2882900"/>
            <a:ext cx="2149475" cy="33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MVP完成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302000"/>
            <a:ext cx="2149475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デモ提供中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479800"/>
            <a:ext cx="2149475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プロダクトは構築済み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8375" y="2235200"/>
            <a:ext cx="2505075" cy="1460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6175" y="2413000"/>
            <a:ext cx="330200" cy="3302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4" name="Picture 13" descr="calendar_2563EB_512_1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423" y="2492248"/>
            <a:ext cx="171704" cy="171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86175" y="2882900"/>
            <a:ext cx="2149475" cy="33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2026年7月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6175" y="3302000"/>
            <a:ext cx="2149475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正式リリース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6175" y="3479800"/>
            <a:ext cx="2149475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ローンチ準備が完了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550" y="2235200"/>
            <a:ext cx="2505075" cy="1460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6350" y="2413000"/>
            <a:ext cx="330200" cy="3302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0" name="Picture 19" descr="school_2563EB_512_1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598" y="2492248"/>
            <a:ext cx="171704" cy="1717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56350" y="2882900"/>
            <a:ext cx="2149475" cy="33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5校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6350" y="3302000"/>
            <a:ext cx="2149475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専門学校が始動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6350" y="3479800"/>
            <a:ext cx="2149475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初期パートナー校を確保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48725" y="2235200"/>
            <a:ext cx="2505075" cy="14605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26525" y="2413000"/>
            <a:ext cx="330200" cy="3302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6" name="Picture 25" descr="building-2_2563EB_512_1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73" y="2492248"/>
            <a:ext cx="171704" cy="1717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026525" y="2882900"/>
            <a:ext cx="2149475" cy="33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10社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6525" y="3302000"/>
            <a:ext cx="2149475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導入可能企業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6525" y="3479800"/>
            <a:ext cx="2149475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受け入れ企業が待機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8200" y="4064000"/>
            <a:ext cx="10515600" cy="1244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" y="4216400"/>
            <a:ext cx="101346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マイルストーン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219200" y="4813300"/>
            <a:ext cx="9753600" cy="0"/>
          </a:xfrm>
          <a:prstGeom prst="line">
            <a:avLst/>
          </a:prstGeom>
          <a:ln w="254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149350" y="4743450"/>
            <a:ext cx="139700" cy="13970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4" name="Picture 33" descr="check_FFFFFF_512_3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4750" y="4768850"/>
            <a:ext cx="88900" cy="889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11200" y="4457700"/>
            <a:ext cx="1016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構築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700" y="4927600"/>
            <a:ext cx="1143000" cy="31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高校市場で</a:t>
            </a: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学校営業を実証</a:t>
            </a:r>
          </a:p>
        </p:txBody>
      </p:sp>
      <p:sp>
        <p:nvSpPr>
          <p:cNvPr id="37" name="Oval 36"/>
          <p:cNvSpPr/>
          <p:nvPr/>
        </p:nvSpPr>
        <p:spPr>
          <a:xfrm>
            <a:off x="3587750" y="4743450"/>
            <a:ext cx="139700" cy="13970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8" name="Picture 37" descr="check_FFFFFF_512_3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3150" y="4768850"/>
            <a:ext cx="88900" cy="889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149600" y="4457700"/>
            <a:ext cx="1016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開発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86100" y="4927600"/>
            <a:ext cx="1143000" cy="31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MVP・デモ</a:t>
            </a: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完成</a:t>
            </a:r>
          </a:p>
        </p:txBody>
      </p:sp>
      <p:sp>
        <p:nvSpPr>
          <p:cNvPr id="41" name="Oval 40"/>
          <p:cNvSpPr/>
          <p:nvPr/>
        </p:nvSpPr>
        <p:spPr>
          <a:xfrm>
            <a:off x="6026150" y="4743450"/>
            <a:ext cx="139700" cy="13970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2" name="Picture 41" descr="check_FFFFFF_512_3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1550" y="4768850"/>
            <a:ext cx="88900" cy="889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588000" y="4457700"/>
            <a:ext cx="1016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始動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24500" y="4927600"/>
            <a:ext cx="1143000" cy="31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5校・10社</a:t>
            </a: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オンボード</a:t>
            </a:r>
          </a:p>
        </p:txBody>
      </p:sp>
      <p:sp>
        <p:nvSpPr>
          <p:cNvPr id="45" name="Oval 44"/>
          <p:cNvSpPr/>
          <p:nvPr/>
        </p:nvSpPr>
        <p:spPr>
          <a:xfrm>
            <a:off x="8464550" y="4743450"/>
            <a:ext cx="139700" cy="13970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6" name="Picture 45" descr="check_FFFFFF_512_3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9950" y="4768850"/>
            <a:ext cx="88900" cy="889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026400" y="4457700"/>
            <a:ext cx="1016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ローンチ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62900" y="4927600"/>
            <a:ext cx="1143000" cy="31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2026年7月</a:t>
            </a: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正式リリース</a:t>
            </a:r>
          </a:p>
        </p:txBody>
      </p:sp>
      <p:sp>
        <p:nvSpPr>
          <p:cNvPr id="49" name="Oval 48"/>
          <p:cNvSpPr/>
          <p:nvPr/>
        </p:nvSpPr>
        <p:spPr>
          <a:xfrm>
            <a:off x="10902950" y="47434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64800" y="4457700"/>
            <a:ext cx="1016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拡大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01300" y="4927600"/>
            <a:ext cx="1143000" cy="31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50校・180社</a:t>
            </a: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（18ヶ月）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6470650"/>
            <a:ext cx="2540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48800" y="6470650"/>
            <a:ext cx="1905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603250"/>
            <a:ext cx="165100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9500" y="546100"/>
            <a:ext cx="102743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 spc="24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74700"/>
            <a:ext cx="10515600" cy="361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18ヶ月で、面を取り切る。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35890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正式リリースから、専門学校50校・有料企業180社へ。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98700" y="2222500"/>
            <a:ext cx="2263775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2026 H2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62475" y="2222500"/>
            <a:ext cx="2263775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2027 H1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6250" y="2222500"/>
            <a:ext cx="2263775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2027 H2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0025" y="2222500"/>
            <a:ext cx="2263775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2028 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489200"/>
            <a:ext cx="13335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1" spc="10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プロダクト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200" y="2451100"/>
            <a:ext cx="1333500" cy="3556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500" y="2451100"/>
            <a:ext cx="1206500" cy="355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企業SaaS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8700" y="2501900"/>
            <a:ext cx="8978900" cy="254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4" name="Picture 13" descr="arrow-right_FFFFFF_512_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0" y="2559050"/>
            <a:ext cx="139700" cy="1397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38200" y="2908300"/>
            <a:ext cx="1333500" cy="3556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500" y="2908300"/>
            <a:ext cx="1206500" cy="355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スカウト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62475" y="2959100"/>
            <a:ext cx="6715125" cy="254000"/>
          </a:xfrm>
          <a:prstGeom prst="roundRect">
            <a:avLst>
              <a:gd name="adj" fmla="val 50000"/>
            </a:avLst>
          </a:prstGeom>
          <a:solidFill>
            <a:srgbClr val="3B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8" name="Picture 17" descr="arrow-right_FFFFFF_512_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0" y="3016250"/>
            <a:ext cx="139700" cy="1397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38200" y="3365500"/>
            <a:ext cx="1333500" cy="3556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500" y="3365500"/>
            <a:ext cx="1206500" cy="355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採用課金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26250" y="3416300"/>
            <a:ext cx="4451350" cy="2540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arrow-right_FFFFFF_512_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0" y="3473450"/>
            <a:ext cx="139700" cy="1397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38200" y="3822700"/>
            <a:ext cx="1333500" cy="3556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500" y="3822700"/>
            <a:ext cx="1206500" cy="355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AI機能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0025" y="3873500"/>
            <a:ext cx="2187575" cy="254000"/>
          </a:xfrm>
          <a:prstGeom prst="roundRect">
            <a:avLst>
              <a:gd name="adj" fmla="val 50000"/>
            </a:avLst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6" name="Picture 25" descr="arrow-right_FFFFFF_512_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0" y="3930650"/>
            <a:ext cx="139700" cy="1397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8200" y="4394200"/>
            <a:ext cx="105156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18ヶ月後のKPI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8200" y="4610100"/>
            <a:ext cx="2533650" cy="736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0600" y="4762500"/>
            <a:ext cx="292100" cy="2921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0" name="Picture 29" descr="school_2563EB_512_1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832604"/>
            <a:ext cx="151892" cy="15189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84300" y="4762500"/>
            <a:ext cx="183515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専門学校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4300" y="4902200"/>
            <a:ext cx="183515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30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50校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98850" y="4610100"/>
            <a:ext cx="2533650" cy="736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51250" y="4762500"/>
            <a:ext cx="292100" cy="2921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5" name="Picture 34" descr="building-2_2563EB_512_1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354" y="4832604"/>
            <a:ext cx="151892" cy="15189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044950" y="4762500"/>
            <a:ext cx="183515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無料企業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4950" y="4902200"/>
            <a:ext cx="183515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30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3,000社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59500" y="4610100"/>
            <a:ext cx="2533650" cy="736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11900" y="4762500"/>
            <a:ext cx="292100" cy="2921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0" name="Picture 39" descr="credit-card_2563EB_512_1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004" y="4832604"/>
            <a:ext cx="151892" cy="15189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705600" y="4762500"/>
            <a:ext cx="183515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有料企業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05600" y="4902200"/>
            <a:ext cx="183515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30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180社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20150" y="4610100"/>
            <a:ext cx="2533650" cy="736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972550" y="4762500"/>
            <a:ext cx="292100" cy="292100"/>
          </a:xfrm>
          <a:prstGeom prst="roundRect">
            <a:avLst>
              <a:gd name="adj" fmla="val 26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5" name="Picture 44" descr="graduation-cap_2563EB_512_1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2654" y="4832604"/>
            <a:ext cx="151892" cy="15189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366250" y="4762500"/>
            <a:ext cx="183515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学生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66250" y="4902200"/>
            <a:ext cx="183515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30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数万名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6470650"/>
            <a:ext cx="2540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48800" y="6470650"/>
            <a:ext cx="1905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603250"/>
            <a:ext cx="165100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9500" y="546100"/>
            <a:ext cx="102743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 spc="24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FINANCIAL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74700"/>
            <a:ext cx="10515600" cy="361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3年でARR ¥7.2億へ。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35890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学校チャネルの高い資本効率で、健全にスケールする。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2209800"/>
            <a:ext cx="4826000" cy="2362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" y="2374900"/>
            <a:ext cx="44450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5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ARR 成長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2527300"/>
            <a:ext cx="44450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単位：百万円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2700" y="4005880"/>
            <a:ext cx="825500" cy="108920"/>
          </a:xfrm>
          <a:prstGeom prst="roundRect">
            <a:avLst>
              <a:gd name="adj" fmla="val 10000"/>
            </a:avLst>
          </a:prstGeom>
          <a:solidFill>
            <a:srgbClr val="DB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5700" y="3789980"/>
            <a:ext cx="10795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¥0.65億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5700" y="4191000"/>
            <a:ext cx="10795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Y1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1950" y="3679119"/>
            <a:ext cx="825500" cy="435681"/>
          </a:xfrm>
          <a:prstGeom prst="roundRect">
            <a:avLst>
              <a:gd name="adj" fmla="val 10000"/>
            </a:avLst>
          </a:prstGeom>
          <a:solidFill>
            <a:srgbClr val="3B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4950" y="3463219"/>
            <a:ext cx="10795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¥2.6億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4950" y="4191000"/>
            <a:ext cx="10795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Y2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1200" y="2908300"/>
            <a:ext cx="825500" cy="12065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4200" y="2692400"/>
            <a:ext cx="10795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¥7.2億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4200" y="4191000"/>
            <a:ext cx="10795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3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Y3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55700" y="4114800"/>
            <a:ext cx="4254500" cy="0"/>
          </a:xfrm>
          <a:prstGeom prst="line">
            <a:avLst/>
          </a:prstGeom>
          <a:ln w="1524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18200" y="2209800"/>
            <a:ext cx="2667000" cy="736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0600" y="2336800"/>
            <a:ext cx="2362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50" b="1" spc="5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CAC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0600" y="2489200"/>
            <a:ext cx="2362200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4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¥12万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0600" y="2781300"/>
            <a:ext cx="2362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学校チャネルで低く抑制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2209800"/>
            <a:ext cx="2667000" cy="736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39200" y="2336800"/>
            <a:ext cx="2362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50" b="1" spc="5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LTV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9200" y="2489200"/>
            <a:ext cx="2362200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4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¥79万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9200" y="2781300"/>
            <a:ext cx="2362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粗利80%・継続前提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18200" y="3022600"/>
            <a:ext cx="2667000" cy="736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0600" y="3149600"/>
            <a:ext cx="2362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50" b="1" spc="5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LTV / CAC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0600" y="3302000"/>
            <a:ext cx="2362200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4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6.6x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70600" y="3594100"/>
            <a:ext cx="2362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健全な3x基準を大きく超過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3022600"/>
            <a:ext cx="2667000" cy="736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39200" y="3149600"/>
            <a:ext cx="2362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50" b="1" spc="5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Payback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9200" y="3302000"/>
            <a:ext cx="2362200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4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5ヶ月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39200" y="3594100"/>
            <a:ext cx="2362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回収が早く再投資可能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18200" y="3835400"/>
            <a:ext cx="2667000" cy="736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70600" y="3962400"/>
            <a:ext cx="2362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50" b="1" spc="5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粗利率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70600" y="4114800"/>
            <a:ext cx="2362200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4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80%超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70600" y="4406900"/>
            <a:ext cx="2362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SaaS中心の高い利益率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3835400"/>
            <a:ext cx="2667000" cy="736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39200" y="3962400"/>
            <a:ext cx="2362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50" b="1" spc="5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ARPA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39200" y="4114800"/>
            <a:ext cx="2362200" cy="215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4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¥3万/月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39200" y="4406900"/>
            <a:ext cx="2362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段階課金で拡張余地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8200" y="4826000"/>
            <a:ext cx="2552700" cy="469900"/>
          </a:xfrm>
          <a:prstGeom prst="roundRect">
            <a:avLst>
              <a:gd name="adj" fmla="val 14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4" name="Picture 43" descr="banknote_FFFFFF_512_1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4972050"/>
            <a:ext cx="177800" cy="1778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231900" y="4914900"/>
            <a:ext cx="20447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50" b="1">
                <a:solidFill>
                  <a:srgbClr val="C9DBFE"/>
                </a:solidFill>
                <a:latin typeface="Inter"/>
                <a:ea typeface="Noto Sans JP"/>
                <a:cs typeface="Inter"/>
              </a:rPr>
              <a:t>調達総額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1900" y="5054600"/>
            <a:ext cx="2044700" cy="177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Inter"/>
                <a:ea typeface="Noto Sans JP"/>
                <a:cs typeface="Inter"/>
              </a:rPr>
              <a:t>¥7,000万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92500" y="4826000"/>
            <a:ext cx="2552700" cy="4699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8" name="Picture 47" descr="layers_1D4ED8_512_1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4972050"/>
            <a:ext cx="177800" cy="1778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886200" y="4914900"/>
            <a:ext cx="20447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5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内訳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86200" y="5054600"/>
            <a:ext cx="2044700" cy="177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Equity ¥40M ＋ Debt ¥30M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46800" y="4826000"/>
            <a:ext cx="2552700" cy="4699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2" name="Picture 51" descr="gauge_1D4ED8_512_1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800" y="4972050"/>
            <a:ext cx="177800" cy="1778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540500" y="4914900"/>
            <a:ext cx="20447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5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月次バーン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40500" y="5054600"/>
            <a:ext cx="2044700" cy="177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約¥390万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01100" y="4826000"/>
            <a:ext cx="2552700" cy="4699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6" name="Picture 55" descr="clock_1D4ED8_512_1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8100" y="4972050"/>
            <a:ext cx="177800" cy="1778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194800" y="4914900"/>
            <a:ext cx="20447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5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Runway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94800" y="5054600"/>
            <a:ext cx="2044700" cy="177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18ヶ月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8200" y="6261100"/>
            <a:ext cx="105156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数値は事業計画に基づく想定値（前提：ARPA ¥3万/月・粗利80%・月次解約率〜3%）。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8200" y="6470650"/>
            <a:ext cx="2540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48800" y="6470650"/>
            <a:ext cx="1905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603250"/>
            <a:ext cx="165100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9500" y="546100"/>
            <a:ext cx="10274300" cy="152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 spc="240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74700"/>
            <a:ext cx="10515600" cy="361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学校営業を、現場で作ってきたチーム。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358900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9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プロダクト・営業・開発の三位一体で実行する。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2235200"/>
            <a:ext cx="3378200" cy="2362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46300" y="2463800"/>
            <a:ext cx="762000" cy="7620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8" name="Picture 7" descr="user-round_9CA3AF_512_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0" y="2641600"/>
            <a:ext cx="355600" cy="355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600" y="3352800"/>
            <a:ext cx="3073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2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深川 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9300" y="3670300"/>
            <a:ext cx="1016000" cy="203200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9300" y="3663950"/>
            <a:ext cx="1016000" cy="20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Founder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2200" y="4000500"/>
            <a:ext cx="2870200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28700" y="4114800"/>
            <a:ext cx="29972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</a:pPr>
            <a:r>
              <a:rPr sz="13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学校営業モデルの設計者。高校市場で導入・運用網を構築。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6900" y="2235200"/>
            <a:ext cx="3378200" cy="2362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15000" y="2463800"/>
            <a:ext cx="762000" cy="7620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6" name="Picture 15" descr="user-round_9CA3AF_512_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200" y="2641600"/>
            <a:ext cx="355600" cy="355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59300" y="3352800"/>
            <a:ext cx="3073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2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渡部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88000" y="3670300"/>
            <a:ext cx="1016000" cy="203200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88000" y="3663950"/>
            <a:ext cx="1016000" cy="20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CEO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60900" y="4000500"/>
            <a:ext cx="2870200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97400" y="4114800"/>
            <a:ext cx="29972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</a:pPr>
            <a:r>
              <a:rPr sz="13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事業全体を統括。営業・パートナーシップを推進。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5600" y="2235200"/>
            <a:ext cx="3378200" cy="2362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90000" dist="380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83700" y="2463800"/>
            <a:ext cx="762000" cy="7620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4" name="Picture 23" descr="user-round_9CA3AF_512_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0" y="2641600"/>
            <a:ext cx="355600" cy="355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128000" y="3352800"/>
            <a:ext cx="3073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200" b="1">
                <a:solidFill>
                  <a:srgbClr val="111111"/>
                </a:solidFill>
                <a:latin typeface="Inter"/>
                <a:ea typeface="Noto Sans JP"/>
                <a:cs typeface="Inter"/>
              </a:rPr>
              <a:t>片倉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56700" y="3670300"/>
            <a:ext cx="1016000" cy="203200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56700" y="3663950"/>
            <a:ext cx="1016000" cy="20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</a:pPr>
            <a:r>
              <a:rPr sz="125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Engineer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29600" y="4000500"/>
            <a:ext cx="2870200" cy="0"/>
          </a:xfrm>
          <a:prstGeom prst="line">
            <a:avLst/>
          </a:prstGeom>
          <a:ln w="12700" cap="rnd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166100" y="4114800"/>
            <a:ext cx="29972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</a:pPr>
            <a:r>
              <a:rPr sz="135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プロダクト開発をリード。MVP・デモを構築。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8200" y="4787900"/>
            <a:ext cx="10515600" cy="482600"/>
          </a:xfrm>
          <a:prstGeom prst="roundRect">
            <a:avLst>
              <a:gd name="adj" fmla="val 12000"/>
            </a:avLst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1" name="Picture 30" descr="route_1D4ED8_512_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4927600"/>
            <a:ext cx="203200" cy="203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33500" y="4787900"/>
            <a:ext cx="9817100" cy="482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1D4ED8"/>
                </a:solidFill>
                <a:latin typeface="Inter"/>
                <a:ea typeface="Noto Sans JP"/>
                <a:cs typeface="Inter"/>
              </a:rPr>
              <a:t>競争優位の源泉である「学校営業モデル」を、実際に高校市場で構築・実証してきた当事者チーム。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6470650"/>
            <a:ext cx="2540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8800" y="6470650"/>
            <a:ext cx="1905000" cy="1397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9CA3AF"/>
                </a:solidFill>
                <a:latin typeface="Inter"/>
                <a:ea typeface="Noto Sans JP"/>
                <a:cs typeface="Inter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8200" y="952500"/>
            <a:ext cx="190500" cy="19050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7600" y="952500"/>
            <a:ext cx="4445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574800"/>
            <a:ext cx="76200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00" b="1" spc="300">
                <a:solidFill>
                  <a:srgbClr val="93C5FD"/>
                </a:solidFill>
                <a:latin typeface="Inter"/>
                <a:ea typeface="Noto Sans JP"/>
                <a:cs typeface="Inter"/>
              </a:rP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816100"/>
            <a:ext cx="9906000" cy="139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6000" b="1">
                <a:solidFill>
                  <a:srgbClr val="FFFFFF"/>
                </a:solidFill>
                <a:latin typeface="Inter"/>
                <a:ea typeface="Noto Sans JP"/>
                <a:cs typeface="Inter"/>
              </a:rPr>
              <a:t>Build Japan's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6000" b="1">
                <a:solidFill>
                  <a:srgbClr val="FFFFFF"/>
                </a:solidFill>
                <a:latin typeface="Inter"/>
                <a:ea typeface="Noto Sans JP"/>
                <a:cs typeface="Inter"/>
              </a:rPr>
              <a:t>Career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530600"/>
            <a:ext cx="82550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2100" b="0">
                <a:solidFill>
                  <a:srgbClr val="D1D5DB"/>
                </a:solidFill>
                <a:latin typeface="Inter"/>
                <a:ea typeface="Noto Sans JP"/>
                <a:cs typeface="Inter"/>
              </a:rPr>
              <a:t>才能が、学歴や履歴書に埋もれない社会をつくる。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3975100"/>
            <a:ext cx="2324100" cy="609600"/>
          </a:xfrm>
          <a:prstGeom prst="roundRect">
            <a:avLst>
              <a:gd name="adj" fmla="val 14000"/>
            </a:avLst>
          </a:prstGeom>
          <a:solidFill>
            <a:srgbClr val="1C2533"/>
          </a:solidFill>
          <a:ln w="12700">
            <a:solidFill>
              <a:srgbClr val="2C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9" name="Picture 8" descr="school_93C5FD_512_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00" y="4152900"/>
            <a:ext cx="254000" cy="254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58900" y="3975100"/>
            <a:ext cx="1714500" cy="609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Inter"/>
                <a:ea typeface="Noto Sans JP"/>
                <a:cs typeface="Inter"/>
              </a:rPr>
              <a:t>専門学校</a:t>
            </a:r>
          </a:p>
        </p:txBody>
      </p:sp>
      <p:pic>
        <p:nvPicPr>
          <p:cNvPr id="11" name="Picture 10" descr="arrow-right_6B7280_512_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00" y="4184650"/>
            <a:ext cx="190500" cy="1905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9500" y="3975100"/>
            <a:ext cx="2324100" cy="609600"/>
          </a:xfrm>
          <a:prstGeom prst="roundRect">
            <a:avLst>
              <a:gd name="adj" fmla="val 14000"/>
            </a:avLst>
          </a:prstGeom>
          <a:solidFill>
            <a:srgbClr val="1C2533"/>
          </a:solidFill>
          <a:ln w="12700">
            <a:solidFill>
              <a:srgbClr val="2C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3" name="Picture 12" descr="graduation-cap_93C5FD_512_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4600" y="4152900"/>
            <a:ext cx="254000" cy="254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40200" y="3975100"/>
            <a:ext cx="1714500" cy="609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Inter"/>
                <a:ea typeface="Noto Sans JP"/>
                <a:cs typeface="Inter"/>
              </a:rPr>
              <a:t>全教育機関</a:t>
            </a:r>
          </a:p>
        </p:txBody>
      </p:sp>
      <p:pic>
        <p:nvPicPr>
          <p:cNvPr id="15" name="Picture 14" descr="arrow-right_6B7280_512_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600" y="4184650"/>
            <a:ext cx="190500" cy="1905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400800" y="3975100"/>
            <a:ext cx="2324100" cy="609600"/>
          </a:xfrm>
          <a:prstGeom prst="roundRect">
            <a:avLst>
              <a:gd name="adj" fmla="val 14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globe_FFFFFF_512_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900" y="4152900"/>
            <a:ext cx="254000" cy="254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21500" y="3975100"/>
            <a:ext cx="1714500" cy="609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450" b="1">
                <a:solidFill>
                  <a:srgbClr val="FFFFFF"/>
                </a:solidFill>
                <a:latin typeface="Inter"/>
                <a:ea typeface="Noto Sans JP"/>
                <a:cs typeface="Inter"/>
              </a:rPr>
              <a:t>日本のキャリアインフラ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8200" y="4940300"/>
            <a:ext cx="10515600" cy="0"/>
          </a:xfrm>
          <a:prstGeom prst="line">
            <a:avLst/>
          </a:prstGeom>
          <a:ln w="12700" cap="rnd">
            <a:solidFill>
              <a:srgbClr val="2C36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8200" y="5105400"/>
            <a:ext cx="6350000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1" spc="200">
                <a:solidFill>
                  <a:srgbClr val="93C5FD"/>
                </a:solidFill>
                <a:latin typeface="Inter"/>
                <a:ea typeface="Noto Sans JP"/>
                <a:cs typeface="Inter"/>
              </a:rPr>
              <a:t>PURPOSE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5283200"/>
            <a:ext cx="71120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100" b="1">
                <a:solidFill>
                  <a:srgbClr val="FFFFFF"/>
                </a:solidFill>
                <a:latin typeface="Inter"/>
                <a:ea typeface="Noto Sans JP"/>
                <a:cs typeface="Inter"/>
              </a:rPr>
              <a:t>Talent should be measured by skill, not resumes.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4800" y="5092700"/>
            <a:ext cx="3429000" cy="1079500"/>
          </a:xfrm>
          <a:prstGeom prst="roundRect">
            <a:avLst>
              <a:gd name="adj" fmla="val 8000"/>
            </a:avLst>
          </a:prstGeom>
          <a:solidFill>
            <a:srgbClr val="1C2533"/>
          </a:solidFill>
          <a:ln w="12700">
            <a:solidFill>
              <a:srgbClr val="2C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8000" y="5194300"/>
            <a:ext cx="30226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200" b="1" spc="150">
                <a:solidFill>
                  <a:srgbClr val="93C5FD"/>
                </a:solidFill>
                <a:latin typeface="Inter"/>
                <a:ea typeface="Noto Sans JP"/>
                <a:cs typeface="Inter"/>
              </a:rPr>
              <a:t>THE ASK  ·  SEED 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0" y="5346700"/>
            <a:ext cx="302260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>
                <a:solidFill>
                  <a:srgbClr val="FFFFFF"/>
                </a:solidFill>
                <a:latin typeface="Inter"/>
                <a:ea typeface="Noto Sans JP"/>
                <a:cs typeface="Inter"/>
              </a:rPr>
              <a:t>¥70,000,000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28000" y="5727700"/>
            <a:ext cx="3022600" cy="0"/>
          </a:xfrm>
          <a:prstGeom prst="line">
            <a:avLst/>
          </a:prstGeom>
          <a:ln w="12700" cap="rnd">
            <a:solidFill>
              <a:srgbClr val="2C36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128000" y="5816600"/>
            <a:ext cx="30226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0">
                <a:solidFill>
                  <a:srgbClr val="D1D5DB"/>
                </a:solidFill>
                <a:latin typeface="Inter"/>
                <a:ea typeface="Noto Sans JP"/>
                <a:cs typeface="Inter"/>
              </a:rPr>
              <a:t>Equity ¥40M ＋ Debt ¥30M ／ 18ヶ月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6502400"/>
            <a:ext cx="38100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00" b="1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USTORY 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8800" y="6502400"/>
            <a:ext cx="19050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</a:pPr>
            <a:r>
              <a:rPr sz="1100" b="0">
                <a:solidFill>
                  <a:srgbClr val="6B7280"/>
                </a:solidFill>
                <a:latin typeface="Inter"/>
                <a:ea typeface="Noto Sans JP"/>
                <a:cs typeface="Inter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